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68" r:id="rId5"/>
    <p:sldId id="274" r:id="rId6"/>
    <p:sldId id="272" r:id="rId7"/>
    <p:sldId id="275" r:id="rId8"/>
    <p:sldId id="273" r:id="rId9"/>
    <p:sldId id="271" r:id="rId10"/>
    <p:sldId id="269" r:id="rId11"/>
    <p:sldId id="270" r:id="rId12"/>
    <p:sldId id="276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</p:sldIdLst>
  <p:sldSz cx="18288000" cy="10287000"/>
  <p:notesSz cx="6858000" cy="9144000"/>
  <p:embeddedFontLst>
    <p:embeddedFont>
      <p:font typeface="Roboto Slab Bold" panose="020B0604020202020204" charset="0"/>
      <p:regular r:id="rId24"/>
    </p:embeddedFont>
    <p:embeddedFont>
      <p:font typeface="Calibri Light" panose="020F0302020204030204" pitchFamily="34" charset="0"/>
      <p:regular r:id="rId25"/>
      <p:italic r:id="rId26"/>
    </p:embeddedFont>
    <p:embeddedFont>
      <p:font typeface="Canva Sans Bold" panose="020B0604020202020204" charset="0"/>
      <p:regular r:id="rId27"/>
    </p:embeddedFont>
    <p:embeddedFont>
      <p:font typeface="Calibri" panose="020F0502020204030204" pitchFamily="34" charset="0"/>
      <p:regular r:id="rId28"/>
      <p:bold r:id="rId29"/>
      <p:italic r:id="rId30"/>
      <p:boldItalic r:id="rId31"/>
    </p:embeddedFont>
    <p:embeddedFont>
      <p:font typeface="Canva Sans" panose="020B0604020202020204" charset="0"/>
      <p:regular r:id="rId32"/>
    </p:embeddedFont>
    <p:embeddedFont>
      <p:font typeface="Roboto Bold" panose="020B0604020202020204" charset="0"/>
      <p:regular r:id="rId33"/>
    </p:embeddedFont>
    <p:embeddedFont>
      <p:font typeface="Roboto" panose="020B0604020202020204" charset="0"/>
      <p:regular r:id="rId34"/>
    </p:embeddedFont>
    <p:embeddedFont>
      <p:font typeface="Roboto Slab" panose="020B0604020202020204" charset="0"/>
      <p:regular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260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17.04.2026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0047732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3424675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0175897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4492994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8045012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5315603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59419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898112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2566286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932865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943584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jpe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jpeg"/><Relationship Id="rId4" Type="http://schemas.openxmlformats.org/officeDocument/2006/relationships/image" Target="../media/image25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28.png"/><Relationship Id="rId7" Type="http://schemas.openxmlformats.org/officeDocument/2006/relationships/image" Target="../media/image30.png"/><Relationship Id="rId12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svg"/><Relationship Id="rId11" Type="http://schemas.openxmlformats.org/officeDocument/2006/relationships/image" Target="../media/image3.jpeg"/><Relationship Id="rId5" Type="http://schemas.openxmlformats.org/officeDocument/2006/relationships/image" Target="../media/image29.png"/><Relationship Id="rId10" Type="http://schemas.openxmlformats.org/officeDocument/2006/relationships/image" Target="../media/image26.svg"/><Relationship Id="rId4" Type="http://schemas.openxmlformats.org/officeDocument/2006/relationships/image" Target="../media/image20.svg"/><Relationship Id="rId9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8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svg"/><Relationship Id="rId5" Type="http://schemas.openxmlformats.org/officeDocument/2006/relationships/image" Target="../media/image29.png"/><Relationship Id="rId10" Type="http://schemas.openxmlformats.org/officeDocument/2006/relationships/image" Target="../media/image2.jpeg"/><Relationship Id="rId4" Type="http://schemas.openxmlformats.org/officeDocument/2006/relationships/image" Target="../media/image20.svg"/><Relationship Id="rId9" Type="http://schemas.openxmlformats.org/officeDocument/2006/relationships/image" Target="../media/image3.jpe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DF1F8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CFE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6858000" cy="10287000"/>
            <a:chOff x="0" y="0"/>
            <a:chExt cx="9144000" cy="137160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0" y="0"/>
            <a:ext cx="6858000" cy="10287000"/>
            <a:chOff x="0" y="0"/>
            <a:chExt cx="9144000" cy="13716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FDFE0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0" y="0"/>
            <a:ext cx="6858000" cy="10287000"/>
            <a:chOff x="0" y="0"/>
            <a:chExt cx="9144000" cy="13716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3917" r="-13917"/>
              </a:stretch>
            </a:blipFill>
          </p:spPr>
        </p:sp>
      </p:grpSp>
      <p:sp>
        <p:nvSpPr>
          <p:cNvPr id="12" name="Freeform 12"/>
          <p:cNvSpPr/>
          <p:nvPr/>
        </p:nvSpPr>
        <p:spPr>
          <a:xfrm>
            <a:off x="6858000" y="356879"/>
            <a:ext cx="7016801" cy="1343643"/>
          </a:xfrm>
          <a:custGeom>
            <a:avLst/>
            <a:gdLst/>
            <a:ahLst/>
            <a:cxnLst/>
            <a:rect l="l" t="t" r="r" b="b"/>
            <a:pathLst>
              <a:path w="7016801" h="1343643">
                <a:moveTo>
                  <a:pt x="0" y="0"/>
                </a:moveTo>
                <a:lnTo>
                  <a:pt x="7016801" y="0"/>
                </a:lnTo>
                <a:lnTo>
                  <a:pt x="7016801" y="1343642"/>
                </a:lnTo>
                <a:lnTo>
                  <a:pt x="0" y="13436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7951008" y="2318453"/>
            <a:ext cx="9944818" cy="1949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11"/>
              </a:lnSpc>
            </a:pPr>
            <a:r>
              <a:rPr lang="en-US" sz="32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The trusted campus marketplace for students to buy and sell academic essentials — textbooks, electronics, and study materials — within our campus community.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7951008" y="5038689"/>
            <a:ext cx="9470947" cy="856318"/>
            <a:chOff x="0" y="0"/>
            <a:chExt cx="12627930" cy="1141758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29058"/>
              <a:ext cx="8830982" cy="1083641"/>
              <a:chOff x="0" y="0"/>
              <a:chExt cx="5789409" cy="710413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5789422" cy="710438"/>
              </a:xfrm>
              <a:custGeom>
                <a:avLst/>
                <a:gdLst/>
                <a:ahLst/>
                <a:cxnLst/>
                <a:rect l="l" t="t" r="r" b="b"/>
                <a:pathLst>
                  <a:path w="5789422" h="710438">
                    <a:moveTo>
                      <a:pt x="0" y="45339"/>
                    </a:moveTo>
                    <a:cubicBezTo>
                      <a:pt x="0" y="20320"/>
                      <a:pt x="20320" y="0"/>
                      <a:pt x="45339" y="0"/>
                    </a:cubicBezTo>
                    <a:lnTo>
                      <a:pt x="5744083" y="0"/>
                    </a:lnTo>
                    <a:cubicBezTo>
                      <a:pt x="5769102" y="0"/>
                      <a:pt x="5789422" y="20320"/>
                      <a:pt x="5789422" y="45339"/>
                    </a:cubicBezTo>
                    <a:lnTo>
                      <a:pt x="5789422" y="665099"/>
                    </a:lnTo>
                    <a:cubicBezTo>
                      <a:pt x="5789422" y="690118"/>
                      <a:pt x="5769102" y="710438"/>
                      <a:pt x="5744083" y="710438"/>
                    </a:cubicBezTo>
                    <a:lnTo>
                      <a:pt x="45339" y="710438"/>
                    </a:lnTo>
                    <a:cubicBezTo>
                      <a:pt x="20320" y="710438"/>
                      <a:pt x="0" y="690118"/>
                      <a:pt x="0" y="665099"/>
                    </a:cubicBezTo>
                    <a:close/>
                  </a:path>
                </a:pathLst>
              </a:custGeom>
              <a:solidFill>
                <a:srgbClr val="D7DFF4"/>
              </a:solidFill>
            </p:spPr>
          </p:sp>
        </p:grpSp>
        <p:grpSp>
          <p:nvGrpSpPr>
            <p:cNvPr id="17" name="Group 17"/>
            <p:cNvGrpSpPr/>
            <p:nvPr/>
          </p:nvGrpSpPr>
          <p:grpSpPr>
            <a:xfrm>
              <a:off x="9109457" y="0"/>
              <a:ext cx="3518472" cy="1141758"/>
              <a:chOff x="0" y="0"/>
              <a:chExt cx="2306638" cy="748513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2306574" cy="748538"/>
              </a:xfrm>
              <a:custGeom>
                <a:avLst/>
                <a:gdLst/>
                <a:ahLst/>
                <a:cxnLst/>
                <a:rect l="l" t="t" r="r" b="b"/>
                <a:pathLst>
                  <a:path w="2306574" h="748538">
                    <a:moveTo>
                      <a:pt x="0" y="51689"/>
                    </a:moveTo>
                    <a:cubicBezTo>
                      <a:pt x="0" y="23114"/>
                      <a:pt x="23495" y="0"/>
                      <a:pt x="52197" y="0"/>
                    </a:cubicBezTo>
                    <a:lnTo>
                      <a:pt x="2254377" y="0"/>
                    </a:lnTo>
                    <a:lnTo>
                      <a:pt x="2254377" y="6350"/>
                    </a:lnTo>
                    <a:lnTo>
                      <a:pt x="2254377" y="0"/>
                    </a:lnTo>
                    <a:cubicBezTo>
                      <a:pt x="2283206" y="0"/>
                      <a:pt x="2306574" y="23114"/>
                      <a:pt x="2306574" y="51689"/>
                    </a:cubicBezTo>
                    <a:lnTo>
                      <a:pt x="2306574" y="696849"/>
                    </a:lnTo>
                    <a:lnTo>
                      <a:pt x="2300224" y="696849"/>
                    </a:lnTo>
                    <a:lnTo>
                      <a:pt x="2306574" y="696849"/>
                    </a:lnTo>
                    <a:cubicBezTo>
                      <a:pt x="2306574" y="725424"/>
                      <a:pt x="2283079" y="748538"/>
                      <a:pt x="2254377" y="748538"/>
                    </a:cubicBezTo>
                    <a:lnTo>
                      <a:pt x="2254377" y="742188"/>
                    </a:lnTo>
                    <a:lnTo>
                      <a:pt x="2254377" y="748538"/>
                    </a:lnTo>
                    <a:lnTo>
                      <a:pt x="52197" y="748538"/>
                    </a:lnTo>
                    <a:lnTo>
                      <a:pt x="52197" y="742188"/>
                    </a:lnTo>
                    <a:lnTo>
                      <a:pt x="52197" y="748538"/>
                    </a:lnTo>
                    <a:cubicBezTo>
                      <a:pt x="23495" y="748538"/>
                      <a:pt x="0" y="725424"/>
                      <a:pt x="0" y="696849"/>
                    </a:cubicBezTo>
                    <a:lnTo>
                      <a:pt x="0" y="51689"/>
                    </a:lnTo>
                    <a:lnTo>
                      <a:pt x="6350" y="51689"/>
                    </a:lnTo>
                    <a:lnTo>
                      <a:pt x="0" y="51689"/>
                    </a:lnTo>
                    <a:moveTo>
                      <a:pt x="12700" y="51689"/>
                    </a:moveTo>
                    <a:lnTo>
                      <a:pt x="12700" y="696849"/>
                    </a:lnTo>
                    <a:lnTo>
                      <a:pt x="6350" y="696849"/>
                    </a:lnTo>
                    <a:lnTo>
                      <a:pt x="12700" y="696849"/>
                    </a:lnTo>
                    <a:cubicBezTo>
                      <a:pt x="12700" y="718312"/>
                      <a:pt x="30353" y="735838"/>
                      <a:pt x="52197" y="735838"/>
                    </a:cubicBezTo>
                    <a:lnTo>
                      <a:pt x="2254377" y="735838"/>
                    </a:lnTo>
                    <a:cubicBezTo>
                      <a:pt x="2276348" y="735838"/>
                      <a:pt x="2293874" y="718312"/>
                      <a:pt x="2293874" y="696849"/>
                    </a:cubicBezTo>
                    <a:lnTo>
                      <a:pt x="2293874" y="51689"/>
                    </a:lnTo>
                    <a:lnTo>
                      <a:pt x="2300224" y="51689"/>
                    </a:lnTo>
                    <a:lnTo>
                      <a:pt x="2293874" y="51689"/>
                    </a:lnTo>
                    <a:cubicBezTo>
                      <a:pt x="2293874" y="30226"/>
                      <a:pt x="2276221" y="12700"/>
                      <a:pt x="2254377" y="12700"/>
                    </a:cubicBezTo>
                    <a:lnTo>
                      <a:pt x="52197" y="12700"/>
                    </a:lnTo>
                    <a:lnTo>
                      <a:pt x="52197" y="6350"/>
                    </a:lnTo>
                    <a:lnTo>
                      <a:pt x="52197" y="12700"/>
                    </a:lnTo>
                    <a:cubicBezTo>
                      <a:pt x="30353" y="12700"/>
                      <a:pt x="12700" y="30226"/>
                      <a:pt x="12700" y="51689"/>
                    </a:cubicBezTo>
                    <a:close/>
                  </a:path>
                </a:pathLst>
              </a:custGeom>
              <a:solidFill>
                <a:srgbClr val="3257B8"/>
              </a:solidFill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345968" y="87597"/>
              <a:ext cx="8139047" cy="8522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90"/>
                </a:lnSpc>
              </a:pPr>
              <a:r>
                <a:rPr lang="en-US" sz="2669">
                  <a:solidFill>
                    <a:srgbClr val="15213F"/>
                  </a:solidFill>
                  <a:latin typeface="Roboto"/>
                  <a:ea typeface="Roboto"/>
                  <a:cs typeface="Roboto"/>
                  <a:sym typeface="Roboto"/>
                </a:rPr>
                <a:t>STUDENT-TO-STUDENT MARKETPLACE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84503" y="87597"/>
              <a:ext cx="2768401" cy="8522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90"/>
                </a:lnSpc>
              </a:pPr>
              <a:r>
                <a:rPr lang="en-US" sz="2669">
                  <a:solidFill>
                    <a:srgbClr val="3257B8"/>
                  </a:solidFill>
                  <a:latin typeface="Roboto"/>
                  <a:ea typeface="Roboto"/>
                  <a:cs typeface="Roboto"/>
                  <a:sym typeface="Roboto"/>
                </a:rPr>
                <a:t>PHP · MYSQL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1696438" y="6840589"/>
            <a:ext cx="8011002" cy="2417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15"/>
              </a:lnSpc>
            </a:pPr>
            <a:r>
              <a:rPr lang="en-US" sz="343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Om Sandeep Bagde</a:t>
            </a:r>
          </a:p>
          <a:p>
            <a:pPr algn="l">
              <a:lnSpc>
                <a:spcPts val="4815"/>
              </a:lnSpc>
            </a:pPr>
            <a:r>
              <a:rPr lang="en-US" sz="343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Karn Sandeep Ghorpade﻿</a:t>
            </a:r>
          </a:p>
          <a:p>
            <a:pPr algn="l">
              <a:lnSpc>
                <a:spcPts val="4815"/>
              </a:lnSpc>
            </a:pPr>
            <a:r>
              <a:rPr lang="en-US" sz="343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Pranav Shivaji Janjal</a:t>
            </a:r>
          </a:p>
          <a:p>
            <a:pPr algn="l">
              <a:lnSpc>
                <a:spcPts val="4815"/>
              </a:lnSpc>
            </a:pPr>
            <a:r>
              <a:rPr lang="en-US" sz="343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T.Y.B.C.A.(Science)-VI﻿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215748" y="6754864"/>
            <a:ext cx="10437762" cy="635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11"/>
              </a:lnSpc>
            </a:pPr>
            <a:r>
              <a:rPr lang="en-US" sz="3200" b="1">
                <a:solidFill>
                  <a:srgbClr val="15213F"/>
                </a:solidFill>
                <a:latin typeface="Roboto Bold"/>
                <a:ea typeface="Roboto Bold"/>
                <a:cs typeface="Roboto Bold"/>
                <a:sym typeface="Roboto Bold"/>
              </a:rPr>
              <a:t>Presented By-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DF1F8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CFE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415147" y="4922056"/>
            <a:ext cx="6863591" cy="4388936"/>
            <a:chOff x="0" y="0"/>
            <a:chExt cx="5298175" cy="338792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298201" cy="3387979"/>
            </a:xfrm>
            <a:custGeom>
              <a:avLst/>
              <a:gdLst/>
              <a:ahLst/>
              <a:cxnLst/>
              <a:rect l="l" t="t" r="r" b="b"/>
              <a:pathLst>
                <a:path w="5298201" h="3387979">
                  <a:moveTo>
                    <a:pt x="0" y="56769"/>
                  </a:moveTo>
                  <a:cubicBezTo>
                    <a:pt x="0" y="25400"/>
                    <a:pt x="22033" y="0"/>
                    <a:pt x="49243" y="0"/>
                  </a:cubicBezTo>
                  <a:lnTo>
                    <a:pt x="5248954" y="0"/>
                  </a:lnTo>
                  <a:cubicBezTo>
                    <a:pt x="5276165" y="0"/>
                    <a:pt x="5298201" y="25400"/>
                    <a:pt x="5298201" y="56769"/>
                  </a:cubicBezTo>
                  <a:lnTo>
                    <a:pt x="5298201" y="3331210"/>
                  </a:lnTo>
                  <a:cubicBezTo>
                    <a:pt x="5298201" y="3362579"/>
                    <a:pt x="5276165" y="3387979"/>
                    <a:pt x="5248954" y="3387979"/>
                  </a:cubicBezTo>
                  <a:lnTo>
                    <a:pt x="49243" y="3387979"/>
                  </a:lnTo>
                  <a:cubicBezTo>
                    <a:pt x="22033" y="3387979"/>
                    <a:pt x="0" y="3362579"/>
                    <a:pt x="0" y="3331210"/>
                  </a:cubicBezTo>
                  <a:close/>
                </a:path>
              </a:pathLst>
            </a:custGeom>
            <a:blipFill>
              <a:blip r:embed="rId3"/>
              <a:stretch>
                <a:fillRect l="-1589" t="-69607" r="-61095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2714684" y="4458421"/>
            <a:ext cx="4581077" cy="2935360"/>
            <a:chOff x="0" y="0"/>
            <a:chExt cx="6108103" cy="391381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108192" cy="3913865"/>
            </a:xfrm>
            <a:custGeom>
              <a:avLst/>
              <a:gdLst/>
              <a:ahLst/>
              <a:cxnLst/>
              <a:rect l="l" t="t" r="r" b="b"/>
              <a:pathLst>
                <a:path w="6108192" h="3913865">
                  <a:moveTo>
                    <a:pt x="0" y="65581"/>
                  </a:moveTo>
                  <a:cubicBezTo>
                    <a:pt x="0" y="29343"/>
                    <a:pt x="25400" y="0"/>
                    <a:pt x="56769" y="0"/>
                  </a:cubicBezTo>
                  <a:lnTo>
                    <a:pt x="6051423" y="0"/>
                  </a:lnTo>
                  <a:cubicBezTo>
                    <a:pt x="6082792" y="0"/>
                    <a:pt x="6108192" y="29343"/>
                    <a:pt x="6108192" y="65581"/>
                  </a:cubicBezTo>
                  <a:lnTo>
                    <a:pt x="6108192" y="3848291"/>
                  </a:lnTo>
                  <a:cubicBezTo>
                    <a:pt x="6108192" y="3884530"/>
                    <a:pt x="6082792" y="3913865"/>
                    <a:pt x="6051423" y="3913865"/>
                  </a:cubicBezTo>
                  <a:lnTo>
                    <a:pt x="56769" y="3913865"/>
                  </a:lnTo>
                  <a:cubicBezTo>
                    <a:pt x="25400" y="3913865"/>
                    <a:pt x="0" y="3884530"/>
                    <a:pt x="0" y="3848291"/>
                  </a:cubicBezTo>
                  <a:close/>
                </a:path>
              </a:pathLst>
            </a:custGeom>
            <a:solidFill>
              <a:srgbClr val="E9ECF2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7850238" y="7393781"/>
            <a:ext cx="9445523" cy="2311625"/>
            <a:chOff x="0" y="0"/>
            <a:chExt cx="12594031" cy="308216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593955" cy="3082060"/>
            </a:xfrm>
            <a:custGeom>
              <a:avLst/>
              <a:gdLst/>
              <a:ahLst/>
              <a:cxnLst/>
              <a:rect l="l" t="t" r="r" b="b"/>
              <a:pathLst>
                <a:path w="12593955" h="3082060">
                  <a:moveTo>
                    <a:pt x="0" y="80147"/>
                  </a:moveTo>
                  <a:cubicBezTo>
                    <a:pt x="0" y="35940"/>
                    <a:pt x="25400" y="0"/>
                    <a:pt x="56642" y="0"/>
                  </a:cubicBezTo>
                  <a:lnTo>
                    <a:pt x="12537313" y="0"/>
                  </a:lnTo>
                  <a:cubicBezTo>
                    <a:pt x="12568682" y="0"/>
                    <a:pt x="12593955" y="35940"/>
                    <a:pt x="12593955" y="80147"/>
                  </a:cubicBezTo>
                  <a:lnTo>
                    <a:pt x="12593955" y="3001913"/>
                  </a:lnTo>
                  <a:cubicBezTo>
                    <a:pt x="12593955" y="3046299"/>
                    <a:pt x="12568555" y="3082060"/>
                    <a:pt x="12537313" y="3082060"/>
                  </a:cubicBezTo>
                  <a:lnTo>
                    <a:pt x="56642" y="3082060"/>
                  </a:lnTo>
                  <a:cubicBezTo>
                    <a:pt x="25273" y="3082060"/>
                    <a:pt x="0" y="3046119"/>
                    <a:pt x="0" y="3001913"/>
                  </a:cubicBezTo>
                  <a:close/>
                </a:path>
              </a:pathLst>
            </a:custGeom>
            <a:solidFill>
              <a:srgbClr val="E9ECF2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1028700" y="781945"/>
            <a:ext cx="14848797" cy="862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>
                <a:solidFill>
                  <a:srgbClr val="714EE5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The Problem: Unorganized Campus Trading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2177671"/>
            <a:ext cx="14912700" cy="1827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85"/>
              </a:lnSpc>
            </a:pPr>
            <a:r>
              <a:rPr lang="en-US" sz="30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Students have no dedicated, trusted platform to buy and sell academic essentials within campus. Existing options are fragmented, unverified, and lack security — making peer-to-peer trading risky and inefficient.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366125" y="4711151"/>
            <a:ext cx="3261172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3000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No Central Hub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133759" y="5635653"/>
            <a:ext cx="4013892" cy="1469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08"/>
              </a:lnSpc>
            </a:pPr>
            <a:r>
              <a:rPr lang="en-US" sz="24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Trading happens across scattered channels with no unified marketplace.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882922" y="4711151"/>
            <a:ext cx="3058478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3000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Unverified Users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998201" y="5479256"/>
            <a:ext cx="4014045" cy="1469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08"/>
              </a:lnSpc>
            </a:pPr>
            <a:r>
              <a:rPr lang="en-US" sz="24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No student identity verification leads to trust and safety concerns.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133759" y="7726637"/>
            <a:ext cx="6669921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3000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Zero Structure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133759" y="8459543"/>
            <a:ext cx="8878491" cy="974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08"/>
              </a:lnSpc>
            </a:pPr>
            <a:r>
              <a:rPr lang="en-US" sz="24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No categories, pricing, or listing management for academic items.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DF1F8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CFE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028700" y="2408906"/>
            <a:ext cx="16303523" cy="8964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66"/>
              </a:lnSpc>
            </a:pPr>
            <a:r>
              <a:rPr lang="en-US" sz="2499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A purpose-built, student-exclusive marketplace powered by PHP and MySQL — enabling secure, verified, and organized campus commerce.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1468202" y="2870597"/>
            <a:ext cx="5851219" cy="1862138"/>
            <a:chOff x="0" y="0"/>
            <a:chExt cx="7801626" cy="2482850"/>
          </a:xfrm>
        </p:grpSpPr>
        <p:sp>
          <p:nvSpPr>
            <p:cNvPr id="8" name="Freeform 8"/>
            <p:cNvSpPr/>
            <p:nvPr/>
          </p:nvSpPr>
          <p:spPr>
            <a:xfrm>
              <a:off x="20825" y="19050"/>
              <a:ext cx="7760073" cy="2444750"/>
            </a:xfrm>
            <a:custGeom>
              <a:avLst/>
              <a:gdLst/>
              <a:ahLst/>
              <a:cxnLst/>
              <a:rect l="l" t="t" r="r" b="b"/>
              <a:pathLst>
                <a:path w="7760073" h="2444750">
                  <a:moveTo>
                    <a:pt x="0" y="182880"/>
                  </a:moveTo>
                  <a:cubicBezTo>
                    <a:pt x="0" y="81915"/>
                    <a:pt x="90378" y="0"/>
                    <a:pt x="201998" y="0"/>
                  </a:cubicBezTo>
                  <a:lnTo>
                    <a:pt x="7558074" y="0"/>
                  </a:lnTo>
                  <a:cubicBezTo>
                    <a:pt x="7669556" y="0"/>
                    <a:pt x="7760073" y="81915"/>
                    <a:pt x="7760073" y="182880"/>
                  </a:cubicBezTo>
                  <a:lnTo>
                    <a:pt x="7760073" y="2261870"/>
                  </a:lnTo>
                  <a:cubicBezTo>
                    <a:pt x="7760073" y="2362835"/>
                    <a:pt x="7669694" y="2444750"/>
                    <a:pt x="7558074" y="2444750"/>
                  </a:cubicBezTo>
                  <a:lnTo>
                    <a:pt x="201998" y="2444750"/>
                  </a:lnTo>
                  <a:cubicBezTo>
                    <a:pt x="90378" y="2444750"/>
                    <a:pt x="0" y="2362835"/>
                    <a:pt x="0" y="2261870"/>
                  </a:cubicBezTo>
                  <a:close/>
                </a:path>
              </a:pathLst>
            </a:custGeom>
            <a:solidFill>
              <a:srgbClr val="FBFCFE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0" y="0"/>
              <a:ext cx="7801714" cy="2482850"/>
            </a:xfrm>
            <a:custGeom>
              <a:avLst/>
              <a:gdLst/>
              <a:ahLst/>
              <a:cxnLst/>
              <a:rect l="l" t="t" r="r" b="b"/>
              <a:pathLst>
                <a:path w="7801714" h="2482850">
                  <a:moveTo>
                    <a:pt x="0" y="201930"/>
                  </a:moveTo>
                  <a:cubicBezTo>
                    <a:pt x="0" y="90170"/>
                    <a:pt x="99958" y="0"/>
                    <a:pt x="222823" y="0"/>
                  </a:cubicBezTo>
                  <a:lnTo>
                    <a:pt x="7578899" y="0"/>
                  </a:lnTo>
                  <a:lnTo>
                    <a:pt x="7578899" y="19050"/>
                  </a:lnTo>
                  <a:lnTo>
                    <a:pt x="7578899" y="0"/>
                  </a:lnTo>
                  <a:cubicBezTo>
                    <a:pt x="7701765" y="0"/>
                    <a:pt x="7801714" y="90170"/>
                    <a:pt x="7801714" y="201930"/>
                  </a:cubicBezTo>
                  <a:lnTo>
                    <a:pt x="7780898" y="201930"/>
                  </a:lnTo>
                  <a:lnTo>
                    <a:pt x="7801714" y="201930"/>
                  </a:lnTo>
                  <a:lnTo>
                    <a:pt x="7801714" y="2280920"/>
                  </a:lnTo>
                  <a:lnTo>
                    <a:pt x="7780898" y="2280920"/>
                  </a:lnTo>
                  <a:lnTo>
                    <a:pt x="7801714" y="2280920"/>
                  </a:lnTo>
                  <a:cubicBezTo>
                    <a:pt x="7801714" y="2392680"/>
                    <a:pt x="7701765" y="2482850"/>
                    <a:pt x="7578899" y="2482850"/>
                  </a:cubicBezTo>
                  <a:lnTo>
                    <a:pt x="7578899" y="2463800"/>
                  </a:lnTo>
                  <a:lnTo>
                    <a:pt x="7578899" y="2482850"/>
                  </a:lnTo>
                  <a:lnTo>
                    <a:pt x="222823" y="2482850"/>
                  </a:lnTo>
                  <a:lnTo>
                    <a:pt x="222823" y="2463800"/>
                  </a:lnTo>
                  <a:lnTo>
                    <a:pt x="222823" y="2482850"/>
                  </a:lnTo>
                  <a:cubicBezTo>
                    <a:pt x="99958" y="2482850"/>
                    <a:pt x="0" y="2392680"/>
                    <a:pt x="0" y="2280920"/>
                  </a:cubicBezTo>
                  <a:lnTo>
                    <a:pt x="0" y="201930"/>
                  </a:lnTo>
                  <a:lnTo>
                    <a:pt x="20825" y="201930"/>
                  </a:lnTo>
                  <a:lnTo>
                    <a:pt x="0" y="201930"/>
                  </a:lnTo>
                  <a:moveTo>
                    <a:pt x="41649" y="201930"/>
                  </a:moveTo>
                  <a:lnTo>
                    <a:pt x="41649" y="2280920"/>
                  </a:lnTo>
                  <a:lnTo>
                    <a:pt x="20825" y="2280920"/>
                  </a:lnTo>
                  <a:lnTo>
                    <a:pt x="41649" y="2280920"/>
                  </a:lnTo>
                  <a:cubicBezTo>
                    <a:pt x="41649" y="2371217"/>
                    <a:pt x="122587" y="2444750"/>
                    <a:pt x="222823" y="2444750"/>
                  </a:cubicBezTo>
                  <a:lnTo>
                    <a:pt x="7578899" y="2444750"/>
                  </a:lnTo>
                  <a:cubicBezTo>
                    <a:pt x="7679135" y="2444750"/>
                    <a:pt x="7760074" y="2371217"/>
                    <a:pt x="7760074" y="2280920"/>
                  </a:cubicBezTo>
                  <a:lnTo>
                    <a:pt x="7760074" y="201930"/>
                  </a:lnTo>
                  <a:cubicBezTo>
                    <a:pt x="7760074" y="111633"/>
                    <a:pt x="7679135" y="38100"/>
                    <a:pt x="7578899" y="38100"/>
                  </a:cubicBezTo>
                  <a:lnTo>
                    <a:pt x="222823" y="38100"/>
                  </a:lnTo>
                  <a:lnTo>
                    <a:pt x="222823" y="19050"/>
                  </a:lnTo>
                  <a:lnTo>
                    <a:pt x="222823" y="38100"/>
                  </a:lnTo>
                  <a:cubicBezTo>
                    <a:pt x="122587" y="38100"/>
                    <a:pt x="41649" y="111633"/>
                    <a:pt x="41649" y="201930"/>
                  </a:cubicBezTo>
                  <a:close/>
                </a:path>
              </a:pathLst>
            </a:custGeom>
            <a:solidFill>
              <a:srgbClr val="CFD2D8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1468202" y="2870597"/>
            <a:ext cx="114300" cy="1833562"/>
            <a:chOff x="0" y="0"/>
            <a:chExt cx="152400" cy="2444750"/>
          </a:xfrm>
        </p:grpSpPr>
        <p:sp>
          <p:nvSpPr>
            <p:cNvPr id="11" name="Freeform 11" descr="preencoded.png"/>
            <p:cNvSpPr/>
            <p:nvPr/>
          </p:nvSpPr>
          <p:spPr>
            <a:xfrm>
              <a:off x="0" y="0"/>
              <a:ext cx="152400" cy="2444750"/>
            </a:xfrm>
            <a:custGeom>
              <a:avLst/>
              <a:gdLst/>
              <a:ahLst/>
              <a:cxnLst/>
              <a:rect l="l" t="t" r="r" b="b"/>
              <a:pathLst>
                <a:path w="152400" h="2444750">
                  <a:moveTo>
                    <a:pt x="0" y="0"/>
                  </a:moveTo>
                  <a:lnTo>
                    <a:pt x="152400" y="0"/>
                  </a:lnTo>
                  <a:lnTo>
                    <a:pt x="152400" y="2444750"/>
                  </a:lnTo>
                  <a:lnTo>
                    <a:pt x="0" y="2444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29" b="-129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11468202" y="4908947"/>
            <a:ext cx="5851219" cy="2218734"/>
            <a:chOff x="0" y="0"/>
            <a:chExt cx="7801626" cy="2958313"/>
          </a:xfrm>
        </p:grpSpPr>
        <p:sp>
          <p:nvSpPr>
            <p:cNvPr id="13" name="Freeform 13"/>
            <p:cNvSpPr/>
            <p:nvPr/>
          </p:nvSpPr>
          <p:spPr>
            <a:xfrm>
              <a:off x="20825" y="19050"/>
              <a:ext cx="7759935" cy="2920238"/>
            </a:xfrm>
            <a:custGeom>
              <a:avLst/>
              <a:gdLst/>
              <a:ahLst/>
              <a:cxnLst/>
              <a:rect l="l" t="t" r="r" b="b"/>
              <a:pathLst>
                <a:path w="7759935" h="2920238">
                  <a:moveTo>
                    <a:pt x="0" y="182880"/>
                  </a:moveTo>
                  <a:cubicBezTo>
                    <a:pt x="0" y="81915"/>
                    <a:pt x="90239" y="0"/>
                    <a:pt x="201443" y="0"/>
                  </a:cubicBezTo>
                  <a:lnTo>
                    <a:pt x="7558491" y="0"/>
                  </a:lnTo>
                  <a:cubicBezTo>
                    <a:pt x="7669695" y="0"/>
                    <a:pt x="7759935" y="81915"/>
                    <a:pt x="7759935" y="182880"/>
                  </a:cubicBezTo>
                  <a:lnTo>
                    <a:pt x="7759935" y="2737358"/>
                  </a:lnTo>
                  <a:cubicBezTo>
                    <a:pt x="7759935" y="2838323"/>
                    <a:pt x="7669695" y="2920238"/>
                    <a:pt x="7558491" y="2920238"/>
                  </a:cubicBezTo>
                  <a:lnTo>
                    <a:pt x="201443" y="2920238"/>
                  </a:lnTo>
                  <a:cubicBezTo>
                    <a:pt x="90239" y="2920238"/>
                    <a:pt x="0" y="2838323"/>
                    <a:pt x="0" y="2737358"/>
                  </a:cubicBezTo>
                  <a:close/>
                </a:path>
              </a:pathLst>
            </a:custGeom>
            <a:solidFill>
              <a:srgbClr val="FBFCFE"/>
            </a:solidFill>
          </p:spPr>
        </p:sp>
        <p:sp>
          <p:nvSpPr>
            <p:cNvPr id="14" name="Freeform 14"/>
            <p:cNvSpPr/>
            <p:nvPr/>
          </p:nvSpPr>
          <p:spPr>
            <a:xfrm>
              <a:off x="0" y="0"/>
              <a:ext cx="7801584" cy="2958338"/>
            </a:xfrm>
            <a:custGeom>
              <a:avLst/>
              <a:gdLst/>
              <a:ahLst/>
              <a:cxnLst/>
              <a:rect l="l" t="t" r="r" b="b"/>
              <a:pathLst>
                <a:path w="7801584" h="2958338">
                  <a:moveTo>
                    <a:pt x="0" y="201930"/>
                  </a:moveTo>
                  <a:cubicBezTo>
                    <a:pt x="0" y="90297"/>
                    <a:pt x="99680" y="0"/>
                    <a:pt x="222268" y="0"/>
                  </a:cubicBezTo>
                  <a:lnTo>
                    <a:pt x="7579316" y="0"/>
                  </a:lnTo>
                  <a:lnTo>
                    <a:pt x="7579316" y="19050"/>
                  </a:lnTo>
                  <a:lnTo>
                    <a:pt x="7579316" y="0"/>
                  </a:lnTo>
                  <a:cubicBezTo>
                    <a:pt x="7701904" y="0"/>
                    <a:pt x="7801584" y="90297"/>
                    <a:pt x="7801584" y="201930"/>
                  </a:cubicBezTo>
                  <a:lnTo>
                    <a:pt x="7780760" y="201930"/>
                  </a:lnTo>
                  <a:lnTo>
                    <a:pt x="7801584" y="201930"/>
                  </a:lnTo>
                  <a:lnTo>
                    <a:pt x="7801584" y="2756408"/>
                  </a:lnTo>
                  <a:lnTo>
                    <a:pt x="7780760" y="2756408"/>
                  </a:lnTo>
                  <a:lnTo>
                    <a:pt x="7801584" y="2756408"/>
                  </a:lnTo>
                  <a:cubicBezTo>
                    <a:pt x="7801584" y="2868041"/>
                    <a:pt x="7701904" y="2958338"/>
                    <a:pt x="7579316" y="2958338"/>
                  </a:cubicBezTo>
                  <a:lnTo>
                    <a:pt x="7579316" y="2939288"/>
                  </a:lnTo>
                  <a:lnTo>
                    <a:pt x="7579316" y="2958338"/>
                  </a:lnTo>
                  <a:lnTo>
                    <a:pt x="222268" y="2958338"/>
                  </a:lnTo>
                  <a:lnTo>
                    <a:pt x="222268" y="2939288"/>
                  </a:lnTo>
                  <a:lnTo>
                    <a:pt x="222268" y="2958338"/>
                  </a:lnTo>
                  <a:cubicBezTo>
                    <a:pt x="99680" y="2958338"/>
                    <a:pt x="0" y="2868041"/>
                    <a:pt x="0" y="2756408"/>
                  </a:cubicBezTo>
                  <a:lnTo>
                    <a:pt x="0" y="201930"/>
                  </a:lnTo>
                  <a:lnTo>
                    <a:pt x="20825" y="201930"/>
                  </a:lnTo>
                  <a:lnTo>
                    <a:pt x="0" y="201930"/>
                  </a:lnTo>
                  <a:moveTo>
                    <a:pt x="41649" y="201930"/>
                  </a:moveTo>
                  <a:lnTo>
                    <a:pt x="41649" y="2756408"/>
                  </a:lnTo>
                  <a:lnTo>
                    <a:pt x="20825" y="2756408"/>
                  </a:lnTo>
                  <a:lnTo>
                    <a:pt x="41649" y="2756408"/>
                  </a:lnTo>
                  <a:cubicBezTo>
                    <a:pt x="41649" y="2846705"/>
                    <a:pt x="122310" y="2920238"/>
                    <a:pt x="222268" y="2920238"/>
                  </a:cubicBezTo>
                  <a:lnTo>
                    <a:pt x="7579316" y="2920238"/>
                  </a:lnTo>
                  <a:cubicBezTo>
                    <a:pt x="7679275" y="2920238"/>
                    <a:pt x="7759936" y="2846705"/>
                    <a:pt x="7759936" y="2756408"/>
                  </a:cubicBezTo>
                  <a:lnTo>
                    <a:pt x="7759936" y="201930"/>
                  </a:lnTo>
                  <a:cubicBezTo>
                    <a:pt x="7759936" y="111633"/>
                    <a:pt x="7679275" y="38100"/>
                    <a:pt x="7579316" y="38100"/>
                  </a:cubicBezTo>
                  <a:lnTo>
                    <a:pt x="222268" y="38100"/>
                  </a:lnTo>
                  <a:lnTo>
                    <a:pt x="222268" y="19050"/>
                  </a:lnTo>
                  <a:lnTo>
                    <a:pt x="222268" y="38100"/>
                  </a:lnTo>
                  <a:cubicBezTo>
                    <a:pt x="122310" y="38100"/>
                    <a:pt x="41649" y="111633"/>
                    <a:pt x="41649" y="201930"/>
                  </a:cubicBezTo>
                  <a:close/>
                </a:path>
              </a:pathLst>
            </a:custGeom>
            <a:solidFill>
              <a:srgbClr val="CFD2D8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11525352" y="4937522"/>
            <a:ext cx="114300" cy="2190159"/>
            <a:chOff x="0" y="0"/>
            <a:chExt cx="152400" cy="2920213"/>
          </a:xfrm>
        </p:grpSpPr>
        <p:sp>
          <p:nvSpPr>
            <p:cNvPr id="16" name="Freeform 16" descr="preencoded.png"/>
            <p:cNvSpPr/>
            <p:nvPr/>
          </p:nvSpPr>
          <p:spPr>
            <a:xfrm>
              <a:off x="0" y="0"/>
              <a:ext cx="152400" cy="2920238"/>
            </a:xfrm>
            <a:custGeom>
              <a:avLst/>
              <a:gdLst/>
              <a:ahLst/>
              <a:cxnLst/>
              <a:rect l="l" t="t" r="r" b="b"/>
              <a:pathLst>
                <a:path w="152400" h="2920238">
                  <a:moveTo>
                    <a:pt x="0" y="0"/>
                  </a:moveTo>
                  <a:lnTo>
                    <a:pt x="152400" y="0"/>
                  </a:lnTo>
                  <a:lnTo>
                    <a:pt x="152400" y="2920238"/>
                  </a:lnTo>
                  <a:lnTo>
                    <a:pt x="0" y="29202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3" b="-12"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11468202" y="7303884"/>
            <a:ext cx="5851219" cy="1862138"/>
            <a:chOff x="0" y="0"/>
            <a:chExt cx="7801626" cy="2482850"/>
          </a:xfrm>
        </p:grpSpPr>
        <p:sp>
          <p:nvSpPr>
            <p:cNvPr id="18" name="Freeform 18"/>
            <p:cNvSpPr/>
            <p:nvPr/>
          </p:nvSpPr>
          <p:spPr>
            <a:xfrm>
              <a:off x="20825" y="19050"/>
              <a:ext cx="7760073" cy="2444750"/>
            </a:xfrm>
            <a:custGeom>
              <a:avLst/>
              <a:gdLst/>
              <a:ahLst/>
              <a:cxnLst/>
              <a:rect l="l" t="t" r="r" b="b"/>
              <a:pathLst>
                <a:path w="7760073" h="2444750">
                  <a:moveTo>
                    <a:pt x="0" y="182880"/>
                  </a:moveTo>
                  <a:cubicBezTo>
                    <a:pt x="0" y="81915"/>
                    <a:pt x="90378" y="0"/>
                    <a:pt x="201998" y="0"/>
                  </a:cubicBezTo>
                  <a:lnTo>
                    <a:pt x="7558074" y="0"/>
                  </a:lnTo>
                  <a:cubicBezTo>
                    <a:pt x="7669556" y="0"/>
                    <a:pt x="7760073" y="81915"/>
                    <a:pt x="7760073" y="182880"/>
                  </a:cubicBezTo>
                  <a:lnTo>
                    <a:pt x="7760073" y="2261870"/>
                  </a:lnTo>
                  <a:cubicBezTo>
                    <a:pt x="7760073" y="2362835"/>
                    <a:pt x="7669694" y="2444750"/>
                    <a:pt x="7558074" y="2444750"/>
                  </a:cubicBezTo>
                  <a:lnTo>
                    <a:pt x="201998" y="2444750"/>
                  </a:lnTo>
                  <a:cubicBezTo>
                    <a:pt x="90378" y="2444750"/>
                    <a:pt x="0" y="2362835"/>
                    <a:pt x="0" y="2261870"/>
                  </a:cubicBezTo>
                  <a:close/>
                </a:path>
              </a:pathLst>
            </a:custGeom>
            <a:solidFill>
              <a:srgbClr val="FBFCFE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0" y="0"/>
              <a:ext cx="7801714" cy="2482850"/>
            </a:xfrm>
            <a:custGeom>
              <a:avLst/>
              <a:gdLst/>
              <a:ahLst/>
              <a:cxnLst/>
              <a:rect l="l" t="t" r="r" b="b"/>
              <a:pathLst>
                <a:path w="7801714" h="2482850">
                  <a:moveTo>
                    <a:pt x="0" y="201930"/>
                  </a:moveTo>
                  <a:cubicBezTo>
                    <a:pt x="0" y="90170"/>
                    <a:pt x="99958" y="0"/>
                    <a:pt x="222823" y="0"/>
                  </a:cubicBezTo>
                  <a:lnTo>
                    <a:pt x="7578899" y="0"/>
                  </a:lnTo>
                  <a:lnTo>
                    <a:pt x="7578899" y="19050"/>
                  </a:lnTo>
                  <a:lnTo>
                    <a:pt x="7578899" y="0"/>
                  </a:lnTo>
                  <a:cubicBezTo>
                    <a:pt x="7701765" y="0"/>
                    <a:pt x="7801714" y="90170"/>
                    <a:pt x="7801714" y="201930"/>
                  </a:cubicBezTo>
                  <a:lnTo>
                    <a:pt x="7780898" y="201930"/>
                  </a:lnTo>
                  <a:lnTo>
                    <a:pt x="7801714" y="201930"/>
                  </a:lnTo>
                  <a:lnTo>
                    <a:pt x="7801714" y="2280920"/>
                  </a:lnTo>
                  <a:lnTo>
                    <a:pt x="7780898" y="2280920"/>
                  </a:lnTo>
                  <a:lnTo>
                    <a:pt x="7801714" y="2280920"/>
                  </a:lnTo>
                  <a:cubicBezTo>
                    <a:pt x="7801714" y="2392680"/>
                    <a:pt x="7701765" y="2482850"/>
                    <a:pt x="7578899" y="2482850"/>
                  </a:cubicBezTo>
                  <a:lnTo>
                    <a:pt x="7578899" y="2463800"/>
                  </a:lnTo>
                  <a:lnTo>
                    <a:pt x="7578899" y="2482850"/>
                  </a:lnTo>
                  <a:lnTo>
                    <a:pt x="222823" y="2482850"/>
                  </a:lnTo>
                  <a:lnTo>
                    <a:pt x="222823" y="2463800"/>
                  </a:lnTo>
                  <a:lnTo>
                    <a:pt x="222823" y="2482850"/>
                  </a:lnTo>
                  <a:cubicBezTo>
                    <a:pt x="99958" y="2482850"/>
                    <a:pt x="0" y="2392680"/>
                    <a:pt x="0" y="2280920"/>
                  </a:cubicBezTo>
                  <a:lnTo>
                    <a:pt x="0" y="201930"/>
                  </a:lnTo>
                  <a:lnTo>
                    <a:pt x="20825" y="201930"/>
                  </a:lnTo>
                  <a:lnTo>
                    <a:pt x="0" y="201930"/>
                  </a:lnTo>
                  <a:moveTo>
                    <a:pt x="41649" y="201930"/>
                  </a:moveTo>
                  <a:lnTo>
                    <a:pt x="41649" y="2280920"/>
                  </a:lnTo>
                  <a:lnTo>
                    <a:pt x="20825" y="2280920"/>
                  </a:lnTo>
                  <a:lnTo>
                    <a:pt x="41649" y="2280920"/>
                  </a:lnTo>
                  <a:cubicBezTo>
                    <a:pt x="41649" y="2371217"/>
                    <a:pt x="122587" y="2444750"/>
                    <a:pt x="222823" y="2444750"/>
                  </a:cubicBezTo>
                  <a:lnTo>
                    <a:pt x="7578899" y="2444750"/>
                  </a:lnTo>
                  <a:cubicBezTo>
                    <a:pt x="7679135" y="2444750"/>
                    <a:pt x="7760074" y="2371217"/>
                    <a:pt x="7760074" y="2280920"/>
                  </a:cubicBezTo>
                  <a:lnTo>
                    <a:pt x="7760074" y="201930"/>
                  </a:lnTo>
                  <a:cubicBezTo>
                    <a:pt x="7760074" y="111633"/>
                    <a:pt x="7679135" y="38100"/>
                    <a:pt x="7578899" y="38100"/>
                  </a:cubicBezTo>
                  <a:lnTo>
                    <a:pt x="222823" y="38100"/>
                  </a:lnTo>
                  <a:lnTo>
                    <a:pt x="222823" y="19050"/>
                  </a:lnTo>
                  <a:lnTo>
                    <a:pt x="222823" y="38100"/>
                  </a:lnTo>
                  <a:cubicBezTo>
                    <a:pt x="122587" y="38100"/>
                    <a:pt x="41649" y="111633"/>
                    <a:pt x="41649" y="201930"/>
                  </a:cubicBezTo>
                  <a:close/>
                </a:path>
              </a:pathLst>
            </a:custGeom>
            <a:solidFill>
              <a:srgbClr val="CFD2D8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11525352" y="7318172"/>
            <a:ext cx="114300" cy="1833562"/>
            <a:chOff x="0" y="0"/>
            <a:chExt cx="152400" cy="2444750"/>
          </a:xfrm>
        </p:grpSpPr>
        <p:sp>
          <p:nvSpPr>
            <p:cNvPr id="21" name="Freeform 21" descr="preencoded.png"/>
            <p:cNvSpPr/>
            <p:nvPr/>
          </p:nvSpPr>
          <p:spPr>
            <a:xfrm>
              <a:off x="0" y="0"/>
              <a:ext cx="152400" cy="2444750"/>
            </a:xfrm>
            <a:custGeom>
              <a:avLst/>
              <a:gdLst/>
              <a:ahLst/>
              <a:cxnLst/>
              <a:rect l="l" t="t" r="r" b="b"/>
              <a:pathLst>
                <a:path w="152400" h="2444750">
                  <a:moveTo>
                    <a:pt x="0" y="0"/>
                  </a:moveTo>
                  <a:lnTo>
                    <a:pt x="152400" y="0"/>
                  </a:lnTo>
                  <a:lnTo>
                    <a:pt x="152400" y="2444750"/>
                  </a:lnTo>
                  <a:lnTo>
                    <a:pt x="0" y="2444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29" b="-129"/>
              </a:stretch>
            </a:blipFill>
          </p:spPr>
        </p:sp>
      </p:grpSp>
      <p:sp>
        <p:nvSpPr>
          <p:cNvPr id="22" name="Freeform 22"/>
          <p:cNvSpPr/>
          <p:nvPr/>
        </p:nvSpPr>
        <p:spPr>
          <a:xfrm>
            <a:off x="1028700" y="3801666"/>
            <a:ext cx="8697941" cy="5664060"/>
          </a:xfrm>
          <a:custGeom>
            <a:avLst/>
            <a:gdLst/>
            <a:ahLst/>
            <a:cxnLst/>
            <a:rect l="l" t="t" r="r" b="b"/>
            <a:pathLst>
              <a:path w="8697941" h="5664060">
                <a:moveTo>
                  <a:pt x="0" y="0"/>
                </a:moveTo>
                <a:lnTo>
                  <a:pt x="8697941" y="0"/>
                </a:lnTo>
                <a:lnTo>
                  <a:pt x="8697941" y="5664060"/>
                </a:lnTo>
                <a:lnTo>
                  <a:pt x="0" y="56640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992238" y="885825"/>
            <a:ext cx="7927578" cy="730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74"/>
              </a:lnSpc>
            </a:pPr>
            <a:r>
              <a:rPr lang="en-US" sz="4687" b="1">
                <a:solidFill>
                  <a:srgbClr val="714EE5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The Solution: campXchange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826663" y="3163177"/>
            <a:ext cx="3012434" cy="350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21"/>
              </a:lnSpc>
            </a:pPr>
            <a:r>
              <a:rPr lang="en-US" sz="2300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Verified Community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826663" y="3634974"/>
            <a:ext cx="5208943" cy="767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1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Only verified student accounts can transact, ensuring safety for everyone.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826663" y="5133975"/>
            <a:ext cx="3012434" cy="387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75"/>
              </a:lnSpc>
            </a:pPr>
            <a:r>
              <a:rPr lang="en-US" sz="2499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Save Money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826663" y="5739108"/>
            <a:ext cx="5208943" cy="1157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1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Get quality academic essentials at a fraction of the original price from fellow students.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826663" y="7527731"/>
            <a:ext cx="3012434" cy="387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75"/>
              </a:lnSpc>
            </a:pPr>
            <a:r>
              <a:rPr lang="en-US" sz="2499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Sell Easily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826663" y="8132864"/>
            <a:ext cx="5208943" cy="767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1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Turn your used textbooks and gadgets into cash quickly within your campus circle.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400" y="2643285"/>
            <a:ext cx="9981883" cy="6731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38200" y="307116"/>
            <a:ext cx="10134600" cy="23575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6000"/>
              </a:lnSpc>
              <a:spcBef>
                <a:spcPts val="200"/>
              </a:spcBef>
            </a:pPr>
            <a:r>
              <a:rPr lang="en-US" sz="2000" dirty="0">
                <a:solidFill>
                  <a:srgbClr val="1F4D78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ER Diagram (Entity Relationship)</a:t>
            </a:r>
            <a:endParaRPr lang="en-US" b="1" dirty="0">
              <a:solidFill>
                <a:srgbClr val="1F4D78"/>
              </a:solidFill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Entities:</a:t>
            </a:r>
          </a:p>
          <a:p>
            <a:pPr marL="342900" lvl="0" indent="-342900" algn="just"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</a:rPr>
              <a:t>User </a:t>
            </a:r>
            <a:endParaRPr lang="en-US" dirty="0"/>
          </a:p>
          <a:p>
            <a:pPr marL="342900" lvl="0" indent="-342900" algn="just"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</a:rPr>
              <a:t>Product </a:t>
            </a:r>
            <a:endParaRPr lang="en-US" dirty="0"/>
          </a:p>
          <a:p>
            <a:pPr marL="342900" lvl="0" indent="-342900" algn="just"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</a:rPr>
              <a:t>Transaction </a:t>
            </a:r>
            <a:endParaRPr lang="en-US" dirty="0"/>
          </a:p>
          <a:p>
            <a:pPr algn="just"/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Relationship:</a:t>
            </a:r>
          </a:p>
          <a:p>
            <a:pPr marL="342900" lvl="0" indent="-342900" algn="just"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</a:rPr>
              <a:t>One user can add multiple products </a:t>
            </a:r>
            <a:endParaRPr lang="en-US" dirty="0"/>
          </a:p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One product belongs to one user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33607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190500"/>
            <a:ext cx="9144000" cy="2357568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06000"/>
              </a:lnSpc>
              <a:spcBef>
                <a:spcPts val="200"/>
              </a:spcBef>
            </a:pPr>
            <a:r>
              <a:rPr lang="en-US" sz="2000" dirty="0">
                <a:solidFill>
                  <a:srgbClr val="1F4D78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 Diagram</a:t>
            </a:r>
            <a:endParaRPr lang="en-US" b="1" dirty="0">
              <a:solidFill>
                <a:srgbClr val="1F4D78"/>
              </a:solidFill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Classes:</a:t>
            </a:r>
          </a:p>
          <a:p>
            <a:pPr marL="342900" lvl="0" indent="-342900" algn="just"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</a:rPr>
              <a:t>User </a:t>
            </a:r>
            <a:endParaRPr lang="en-US" dirty="0"/>
          </a:p>
          <a:p>
            <a:pPr marL="342900" lvl="0" indent="-342900" algn="just"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</a:rPr>
              <a:t>Product </a:t>
            </a:r>
            <a:endParaRPr lang="en-US" dirty="0"/>
          </a:p>
          <a:p>
            <a:pPr marL="342900" lvl="0" indent="-342900" algn="just"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</a:rPr>
              <a:t>Admin </a:t>
            </a:r>
            <a:endParaRPr lang="en-US" dirty="0"/>
          </a:p>
          <a:p>
            <a:pPr algn="just"/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Each class contains:</a:t>
            </a:r>
          </a:p>
          <a:p>
            <a:pPr marL="342900" lvl="0" indent="-342900" algn="just"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</a:rPr>
              <a:t>Attributes (data) </a:t>
            </a:r>
            <a:endParaRPr lang="en-US" dirty="0"/>
          </a:p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Methods (functions)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03" t="6723"/>
          <a:stretch/>
        </p:blipFill>
        <p:spPr>
          <a:xfrm>
            <a:off x="4267200" y="190500"/>
            <a:ext cx="8991600" cy="929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6190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" y="190500"/>
            <a:ext cx="9144000" cy="1526572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06000"/>
              </a:lnSpc>
              <a:spcBef>
                <a:spcPts val="200"/>
              </a:spcBef>
            </a:pPr>
            <a:r>
              <a:rPr lang="en-US" sz="2000" dirty="0">
                <a:solidFill>
                  <a:srgbClr val="1F4D78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Object Diagram</a:t>
            </a:r>
            <a:endParaRPr lang="en-US" b="1" dirty="0">
              <a:solidFill>
                <a:srgbClr val="1F4D78"/>
              </a:solidFill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Shows real-time instances of classes.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Example:</a:t>
            </a:r>
          </a:p>
          <a:p>
            <a:pPr marL="342900" lvl="0" indent="-342900" algn="just"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</a:rPr>
              <a:t>User: OMII</a:t>
            </a:r>
            <a:endParaRPr lang="en-US" dirty="0"/>
          </a:p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Product: Laptop </a:t>
            </a:r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3400" y="723900"/>
            <a:ext cx="12496800" cy="861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810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0400" y="1866900"/>
            <a:ext cx="9448800" cy="784320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33400" y="616805"/>
            <a:ext cx="9144000" cy="1249573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06000"/>
              </a:lnSpc>
              <a:spcBef>
                <a:spcPts val="200"/>
              </a:spcBef>
            </a:pPr>
            <a:r>
              <a:rPr lang="en-US" sz="2000" dirty="0">
                <a:solidFill>
                  <a:srgbClr val="1F4D78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Activity Diagram</a:t>
            </a:r>
            <a:endParaRPr lang="en-US" b="1" dirty="0">
              <a:solidFill>
                <a:srgbClr val="1F4D78"/>
              </a:solidFill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Flow:</a:t>
            </a:r>
            <a:b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Login → Add Product → View Product → Buy Product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20156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02"/>
          <a:stretch/>
        </p:blipFill>
        <p:spPr>
          <a:xfrm>
            <a:off x="7543800" y="1714500"/>
            <a:ext cx="8915400" cy="80772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81000" y="342900"/>
            <a:ext cx="9144000" cy="3188565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06000"/>
              </a:lnSpc>
              <a:spcBef>
                <a:spcPts val="200"/>
              </a:spcBef>
            </a:pPr>
            <a:r>
              <a:rPr lang="en-US" sz="2000" dirty="0">
                <a:solidFill>
                  <a:srgbClr val="1F4D78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 Case Diagram</a:t>
            </a:r>
            <a:endParaRPr lang="en-US" b="1" dirty="0">
              <a:solidFill>
                <a:srgbClr val="1F4D78"/>
              </a:solidFill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Actors:</a:t>
            </a:r>
          </a:p>
          <a:p>
            <a:pPr marL="342900" lvl="0" indent="-342900" algn="just"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</a:rPr>
              <a:t>User </a:t>
            </a:r>
            <a:endParaRPr lang="en-US" dirty="0"/>
          </a:p>
          <a:p>
            <a:pPr marL="342900" lvl="0" indent="-342900" algn="just"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</a:rPr>
              <a:t>Admin </a:t>
            </a:r>
            <a:endParaRPr lang="en-US" dirty="0"/>
          </a:p>
          <a:p>
            <a:pPr algn="just"/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User can:</a:t>
            </a:r>
          </a:p>
          <a:p>
            <a:pPr marL="342900" lvl="0" indent="-342900" algn="just"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</a:rPr>
              <a:t>Login </a:t>
            </a:r>
            <a:endParaRPr lang="en-US" dirty="0"/>
          </a:p>
          <a:p>
            <a:pPr marL="342900" lvl="0" indent="-342900" algn="just"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</a:rPr>
              <a:t>Add product </a:t>
            </a:r>
            <a:endParaRPr lang="en-US" dirty="0"/>
          </a:p>
          <a:p>
            <a:pPr marL="342900" lvl="0" indent="-342900" algn="just"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</a:rPr>
              <a:t>Buy product </a:t>
            </a:r>
            <a:endParaRPr lang="en-US" dirty="0"/>
          </a:p>
          <a:p>
            <a:pPr algn="just"/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Admin can:</a:t>
            </a:r>
          </a:p>
          <a:p>
            <a:pPr marL="342900" lvl="0" indent="-342900" algn="just"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</a:rPr>
              <a:t>Manage users </a:t>
            </a:r>
            <a:endParaRPr lang="en-US" dirty="0"/>
          </a:p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Delete products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22114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6200" y="1409700"/>
            <a:ext cx="8458200" cy="838199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04800" y="342900"/>
            <a:ext cx="9144000" cy="909160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06000"/>
              </a:lnSpc>
              <a:spcBef>
                <a:spcPts val="200"/>
              </a:spcBef>
            </a:pPr>
            <a:r>
              <a:rPr lang="en-US" dirty="0">
                <a:solidFill>
                  <a:srgbClr val="1F4D78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Sequence Diagram</a:t>
            </a:r>
            <a:endParaRPr lang="en-US" b="1" dirty="0">
              <a:solidFill>
                <a:srgbClr val="1F4D78"/>
              </a:solidFill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Shows step-by-step interaction: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User → System → Database → Response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73136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419100"/>
            <a:ext cx="9144000" cy="695575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06000"/>
              </a:lnSpc>
              <a:spcBef>
                <a:spcPts val="200"/>
              </a:spcBef>
            </a:pPr>
            <a:r>
              <a:rPr lang="en-US" sz="2000" b="1" dirty="0">
                <a:solidFill>
                  <a:srgbClr val="1F4D78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Collaboration Diagram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Shows communication between system components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05"/>
          <a:stretch/>
        </p:blipFill>
        <p:spPr>
          <a:xfrm>
            <a:off x="4648200" y="1409700"/>
            <a:ext cx="10744200" cy="815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7265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94" t="19000" r="-6757" b="-668"/>
          <a:stretch/>
        </p:blipFill>
        <p:spPr>
          <a:xfrm>
            <a:off x="6096000" y="1485900"/>
            <a:ext cx="9677400" cy="7848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28600" y="266700"/>
            <a:ext cx="9144000" cy="1493935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06000"/>
              </a:lnSpc>
              <a:spcBef>
                <a:spcPts val="200"/>
              </a:spcBef>
            </a:pPr>
            <a:r>
              <a:rPr lang="en-US" dirty="0">
                <a:solidFill>
                  <a:srgbClr val="1F4D78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Component Diagram</a:t>
            </a:r>
            <a:endParaRPr lang="en-US" b="1" dirty="0">
              <a:solidFill>
                <a:srgbClr val="1F4D78"/>
              </a:solidFill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Modules:</a:t>
            </a:r>
          </a:p>
          <a:p>
            <a:pPr marL="342900" lvl="0" indent="-342900" algn="just"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</a:rPr>
              <a:t>User Interface </a:t>
            </a:r>
            <a:endParaRPr lang="en-US" dirty="0"/>
          </a:p>
          <a:p>
            <a:pPr marL="342900" lvl="0" indent="-342900" algn="just"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</a:rPr>
              <a:t>Backend </a:t>
            </a:r>
            <a:endParaRPr lang="en-US" dirty="0"/>
          </a:p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Database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11220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0" y="876300"/>
            <a:ext cx="8472488" cy="8534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81000" y="266700"/>
            <a:ext cx="9144000" cy="1493935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06000"/>
              </a:lnSpc>
              <a:spcBef>
                <a:spcPts val="200"/>
              </a:spcBef>
            </a:pPr>
            <a:r>
              <a:rPr lang="en-US" dirty="0">
                <a:solidFill>
                  <a:srgbClr val="1F4D78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Deployment Diagram</a:t>
            </a:r>
            <a:endParaRPr lang="en-US" b="1" dirty="0">
              <a:solidFill>
                <a:srgbClr val="1F4D78"/>
              </a:solidFill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Architecture:</a:t>
            </a:r>
          </a:p>
          <a:p>
            <a:pPr marL="342900" lvl="0" indent="-342900" algn="just"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</a:rPr>
              <a:t>Client (User device) </a:t>
            </a:r>
            <a:endParaRPr lang="en-US" dirty="0"/>
          </a:p>
          <a:p>
            <a:pPr marL="342900" lvl="0" indent="-342900" algn="just"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</a:rPr>
              <a:t>Server </a:t>
            </a:r>
            <a:endParaRPr lang="en-US" dirty="0"/>
          </a:p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Database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21341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DF1F8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CFE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3273476" y="5476723"/>
            <a:ext cx="285750" cy="285750"/>
            <a:chOff x="0" y="0"/>
            <a:chExt cx="381000" cy="3810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1441128" y="7317623"/>
            <a:ext cx="5818172" cy="2368448"/>
            <a:chOff x="0" y="0"/>
            <a:chExt cx="7757562" cy="315793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757575" cy="3157855"/>
            </a:xfrm>
            <a:custGeom>
              <a:avLst/>
              <a:gdLst/>
              <a:ahLst/>
              <a:cxnLst/>
              <a:rect l="l" t="t" r="r" b="b"/>
              <a:pathLst>
                <a:path w="7757575" h="3157855">
                  <a:moveTo>
                    <a:pt x="0" y="53848"/>
                  </a:moveTo>
                  <a:cubicBezTo>
                    <a:pt x="0" y="24130"/>
                    <a:pt x="26595" y="0"/>
                    <a:pt x="59348" y="0"/>
                  </a:cubicBezTo>
                  <a:lnTo>
                    <a:pt x="7698228" y="0"/>
                  </a:lnTo>
                  <a:cubicBezTo>
                    <a:pt x="7730982" y="0"/>
                    <a:pt x="7757575" y="24130"/>
                    <a:pt x="7757575" y="53848"/>
                  </a:cubicBezTo>
                  <a:lnTo>
                    <a:pt x="7757575" y="3104007"/>
                  </a:lnTo>
                  <a:cubicBezTo>
                    <a:pt x="7757575" y="3133725"/>
                    <a:pt x="7730982" y="3157855"/>
                    <a:pt x="7698228" y="3157855"/>
                  </a:cubicBezTo>
                  <a:lnTo>
                    <a:pt x="59348" y="3157855"/>
                  </a:lnTo>
                  <a:cubicBezTo>
                    <a:pt x="26595" y="3157855"/>
                    <a:pt x="0" y="3133725"/>
                    <a:pt x="0" y="3104007"/>
                  </a:cubicBezTo>
                  <a:close/>
                </a:path>
              </a:pathLst>
            </a:custGeom>
            <a:solidFill>
              <a:srgbClr val="B6D6FC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1835708" y="7579088"/>
            <a:ext cx="336652" cy="269234"/>
            <a:chOff x="0" y="0"/>
            <a:chExt cx="448869" cy="358978"/>
          </a:xfrm>
        </p:grpSpPr>
        <p:sp>
          <p:nvSpPr>
            <p:cNvPr id="11" name="Freeform 11" descr="preencoded.png"/>
            <p:cNvSpPr/>
            <p:nvPr/>
          </p:nvSpPr>
          <p:spPr>
            <a:xfrm>
              <a:off x="0" y="0"/>
              <a:ext cx="448818" cy="359029"/>
            </a:xfrm>
            <a:custGeom>
              <a:avLst/>
              <a:gdLst/>
              <a:ahLst/>
              <a:cxnLst/>
              <a:rect l="l" t="t" r="r" b="b"/>
              <a:pathLst>
                <a:path w="448818" h="359029">
                  <a:moveTo>
                    <a:pt x="0" y="0"/>
                  </a:moveTo>
                  <a:lnTo>
                    <a:pt x="448818" y="0"/>
                  </a:lnTo>
                  <a:lnTo>
                    <a:pt x="448818" y="359029"/>
                  </a:lnTo>
                  <a:lnTo>
                    <a:pt x="0" y="3590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7" r="-11"/>
              </a:stretch>
            </a:blipFill>
          </p:spPr>
        </p:sp>
      </p:grpSp>
      <p:sp>
        <p:nvSpPr>
          <p:cNvPr id="12" name="Freeform 12"/>
          <p:cNvSpPr/>
          <p:nvPr/>
        </p:nvSpPr>
        <p:spPr>
          <a:xfrm>
            <a:off x="510203" y="1924807"/>
            <a:ext cx="6072096" cy="1855651"/>
          </a:xfrm>
          <a:custGeom>
            <a:avLst/>
            <a:gdLst/>
            <a:ahLst/>
            <a:cxnLst/>
            <a:rect l="l" t="t" r="r" b="b"/>
            <a:pathLst>
              <a:path w="6072096" h="1855651">
                <a:moveTo>
                  <a:pt x="0" y="0"/>
                </a:moveTo>
                <a:lnTo>
                  <a:pt x="6072096" y="0"/>
                </a:lnTo>
                <a:lnTo>
                  <a:pt x="6072096" y="1855651"/>
                </a:lnTo>
                <a:lnTo>
                  <a:pt x="0" y="18556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r="-131826" b="-243444"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992238" y="751132"/>
            <a:ext cx="17700682" cy="825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25"/>
              </a:lnSpc>
            </a:pPr>
            <a:r>
              <a:rPr lang="en-US" sz="5250" b="1">
                <a:solidFill>
                  <a:srgbClr val="714EE5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Landing Page &amp; Browse Experience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026208" y="2013321"/>
            <a:ext cx="4965957" cy="498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38"/>
              </a:lnSpc>
            </a:pPr>
            <a:r>
              <a:rPr lang="en-US" sz="3200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Key Features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441128" y="2854938"/>
            <a:ext cx="5864016" cy="4085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92113" lvl="1" indent="-196056" algn="l">
              <a:lnSpc>
                <a:spcPts val="4096"/>
              </a:lnSpc>
              <a:buFont typeface="Arial"/>
              <a:buChar char="•"/>
            </a:pPr>
            <a:r>
              <a:rPr lang="en-US" sz="26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Category browsing: Textbooks, Electronics, Stationery, Calculators</a:t>
            </a:r>
          </a:p>
          <a:p>
            <a:pPr marL="392113" lvl="1" indent="-196056" algn="l">
              <a:lnSpc>
                <a:spcPts val="4096"/>
              </a:lnSpc>
              <a:buFont typeface="Arial"/>
              <a:buChar char="•"/>
            </a:pPr>
            <a:r>
              <a:rPr lang="en-US" sz="26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Live listings with seller info, price, and condition</a:t>
            </a:r>
          </a:p>
          <a:p>
            <a:pPr marL="392113" lvl="1" indent="-196056" algn="l">
              <a:lnSpc>
                <a:spcPts val="4096"/>
              </a:lnSpc>
              <a:buFont typeface="Arial"/>
              <a:buChar char="•"/>
            </a:pPr>
            <a:r>
              <a:rPr lang="en-US" sz="26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Quick links: Home, Browse Items, Register</a:t>
            </a:r>
          </a:p>
          <a:p>
            <a:pPr marL="392113" lvl="1" indent="-196056" algn="l">
              <a:lnSpc>
                <a:spcPts val="4096"/>
              </a:lnSpc>
              <a:buFont typeface="Arial"/>
              <a:buChar char="•"/>
            </a:pPr>
            <a:r>
              <a:rPr lang="en-US" sz="26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Contact support and social media integration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481449" y="7575836"/>
            <a:ext cx="4510716" cy="1733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6"/>
              </a:lnSpc>
            </a:pPr>
            <a:r>
              <a:rPr lang="en-US" sz="21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Sample listings include a phone at ₹5,000, scientific calculator at ₹1,500, and python notes at ₹200 — all from verified campus sellers.</a:t>
            </a:r>
          </a:p>
        </p:txBody>
      </p:sp>
      <p:sp>
        <p:nvSpPr>
          <p:cNvPr id="17" name="Freeform 17"/>
          <p:cNvSpPr/>
          <p:nvPr/>
        </p:nvSpPr>
        <p:spPr>
          <a:xfrm>
            <a:off x="510203" y="5085566"/>
            <a:ext cx="10638205" cy="4600506"/>
          </a:xfrm>
          <a:custGeom>
            <a:avLst/>
            <a:gdLst/>
            <a:ahLst/>
            <a:cxnLst/>
            <a:rect l="l" t="t" r="r" b="b"/>
            <a:pathLst>
              <a:path w="10638205" h="4600506">
                <a:moveTo>
                  <a:pt x="0" y="0"/>
                </a:moveTo>
                <a:lnTo>
                  <a:pt x="10638204" y="0"/>
                </a:lnTo>
                <a:lnTo>
                  <a:pt x="10638204" y="4600505"/>
                </a:lnTo>
                <a:lnTo>
                  <a:pt x="0" y="46005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36158" r="-30204" b="-154"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992238" y="3864126"/>
            <a:ext cx="3794781" cy="1059713"/>
          </a:xfrm>
          <a:custGeom>
            <a:avLst/>
            <a:gdLst/>
            <a:ahLst/>
            <a:cxnLst/>
            <a:rect l="l" t="t" r="r" b="b"/>
            <a:pathLst>
              <a:path w="3794781" h="1059713">
                <a:moveTo>
                  <a:pt x="0" y="0"/>
                </a:moveTo>
                <a:lnTo>
                  <a:pt x="3794782" y="0"/>
                </a:lnTo>
                <a:lnTo>
                  <a:pt x="3794782" y="1059714"/>
                </a:lnTo>
                <a:lnTo>
                  <a:pt x="0" y="10597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80402" t="-60015" r="-136469" b="-515836"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5335532" y="3864126"/>
            <a:ext cx="5137785" cy="1137771"/>
          </a:xfrm>
          <a:custGeom>
            <a:avLst/>
            <a:gdLst/>
            <a:ahLst/>
            <a:cxnLst/>
            <a:rect l="l" t="t" r="r" b="b"/>
            <a:pathLst>
              <a:path w="5137785" h="1137771">
                <a:moveTo>
                  <a:pt x="0" y="0"/>
                </a:moveTo>
                <a:lnTo>
                  <a:pt x="5137786" y="0"/>
                </a:lnTo>
                <a:lnTo>
                  <a:pt x="5137786" y="1137771"/>
                </a:lnTo>
                <a:lnTo>
                  <a:pt x="0" y="11377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03300" t="-55898" r="-4601" b="-473586"/>
            </a:stretch>
          </a:blipFill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DF1F8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CFE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2050276" y="2034931"/>
            <a:ext cx="5839638" cy="7956521"/>
            <a:chOff x="0" y="0"/>
            <a:chExt cx="7786184" cy="1060869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786138" cy="10608586"/>
            </a:xfrm>
            <a:custGeom>
              <a:avLst/>
              <a:gdLst/>
              <a:ahLst/>
              <a:cxnLst/>
              <a:rect l="l" t="t" r="r" b="b"/>
              <a:pathLst>
                <a:path w="7786138" h="10608586">
                  <a:moveTo>
                    <a:pt x="0" y="81415"/>
                  </a:moveTo>
                  <a:cubicBezTo>
                    <a:pt x="0" y="36509"/>
                    <a:pt x="15703" y="0"/>
                    <a:pt x="35019" y="0"/>
                  </a:cubicBezTo>
                  <a:lnTo>
                    <a:pt x="7751119" y="0"/>
                  </a:lnTo>
                  <a:cubicBezTo>
                    <a:pt x="7770513" y="0"/>
                    <a:pt x="7786138" y="36509"/>
                    <a:pt x="7786138" y="81415"/>
                  </a:cubicBezTo>
                  <a:lnTo>
                    <a:pt x="7786138" y="10527171"/>
                  </a:lnTo>
                  <a:cubicBezTo>
                    <a:pt x="7786138" y="10572259"/>
                    <a:pt x="7770434" y="10608586"/>
                    <a:pt x="7751119" y="10608586"/>
                  </a:cubicBezTo>
                  <a:lnTo>
                    <a:pt x="35019" y="10608586"/>
                  </a:lnTo>
                  <a:cubicBezTo>
                    <a:pt x="15625" y="10608586"/>
                    <a:pt x="0" y="10572076"/>
                    <a:pt x="0" y="10527171"/>
                  </a:cubicBezTo>
                  <a:close/>
                </a:path>
              </a:pathLst>
            </a:custGeom>
            <a:solidFill>
              <a:srgbClr val="E9ECF2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8605413" y="4883944"/>
            <a:ext cx="9445523" cy="38100"/>
            <a:chOff x="0" y="0"/>
            <a:chExt cx="12594031" cy="50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594082" cy="50800"/>
            </a:xfrm>
            <a:custGeom>
              <a:avLst/>
              <a:gdLst/>
              <a:ahLst/>
              <a:cxnLst/>
              <a:rect l="l" t="t" r="r" b="b"/>
              <a:pathLst>
                <a:path w="12594082" h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2568682" y="0"/>
                  </a:lnTo>
                  <a:cubicBezTo>
                    <a:pt x="12582651" y="0"/>
                    <a:pt x="12594082" y="11430"/>
                    <a:pt x="12594082" y="25400"/>
                  </a:cubicBezTo>
                  <a:cubicBezTo>
                    <a:pt x="12594082" y="39370"/>
                    <a:pt x="12582651" y="50800"/>
                    <a:pt x="12568682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CFD2D8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1028700" y="740382"/>
            <a:ext cx="16267062" cy="862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>
                <a:solidFill>
                  <a:srgbClr val="714EE5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Authentication: Sign In &amp; Registration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266446" y="2240829"/>
            <a:ext cx="3544043" cy="457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900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Sign In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267162" y="2864716"/>
            <a:ext cx="5217577" cy="1846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5"/>
              </a:lnSpc>
            </a:pPr>
            <a:r>
              <a:rPr lang="en-US" sz="23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Students log in with their college email and password. Forgot-password support included. Secure session management via PHP.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266446" y="4902994"/>
            <a:ext cx="3544043" cy="457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900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Create Account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267162" y="5655764"/>
            <a:ext cx="5622753" cy="1379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5"/>
              </a:lnSpc>
            </a:pPr>
            <a:r>
              <a:rPr lang="en-US" sz="23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Fast setup with full name, email, phone number, and password confirmation. Built exclusively for students.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267162" y="7365501"/>
            <a:ext cx="2738517" cy="457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900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Verified Access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360949" y="8122739"/>
            <a:ext cx="5218293" cy="1379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5"/>
              </a:lnSpc>
            </a:pPr>
            <a:r>
              <a:rPr lang="en-US" sz="23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Real-time messaging and secure transactions unlock upon verified student account creation.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8444391" y="7245078"/>
            <a:ext cx="9445523" cy="38100"/>
            <a:chOff x="0" y="0"/>
            <a:chExt cx="12594031" cy="50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2594082" cy="50800"/>
            </a:xfrm>
            <a:custGeom>
              <a:avLst/>
              <a:gdLst/>
              <a:ahLst/>
              <a:cxnLst/>
              <a:rect l="l" t="t" r="r" b="b"/>
              <a:pathLst>
                <a:path w="12594082" h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2568682" y="0"/>
                  </a:lnTo>
                  <a:cubicBezTo>
                    <a:pt x="12582651" y="0"/>
                    <a:pt x="12594082" y="11430"/>
                    <a:pt x="12594082" y="25400"/>
                  </a:cubicBezTo>
                  <a:cubicBezTo>
                    <a:pt x="12594082" y="39370"/>
                    <a:pt x="12582651" y="50800"/>
                    <a:pt x="12568682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CFD2D8"/>
            </a:solidFill>
          </p:spPr>
        </p:sp>
      </p:grpSp>
      <p:sp>
        <p:nvSpPr>
          <p:cNvPr id="19" name="Freeform 19"/>
          <p:cNvSpPr/>
          <p:nvPr/>
        </p:nvSpPr>
        <p:spPr>
          <a:xfrm>
            <a:off x="351418" y="2109327"/>
            <a:ext cx="11698858" cy="7807729"/>
          </a:xfrm>
          <a:custGeom>
            <a:avLst/>
            <a:gdLst/>
            <a:ahLst/>
            <a:cxnLst/>
            <a:rect l="l" t="t" r="r" b="b"/>
            <a:pathLst>
              <a:path w="11698858" h="7807729">
                <a:moveTo>
                  <a:pt x="0" y="0"/>
                </a:moveTo>
                <a:lnTo>
                  <a:pt x="11698858" y="0"/>
                </a:lnTo>
                <a:lnTo>
                  <a:pt x="11698858" y="7807728"/>
                </a:lnTo>
                <a:lnTo>
                  <a:pt x="0" y="78077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784" t="-3237" r="-2784" b="-6106"/>
            </a:stretch>
          </a:blipFill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DF1F8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CFE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747418" y="2385318"/>
            <a:ext cx="5260181" cy="793203"/>
          </a:xfrm>
          <a:custGeom>
            <a:avLst/>
            <a:gdLst/>
            <a:ahLst/>
            <a:cxnLst/>
            <a:rect l="l" t="t" r="r" b="b"/>
            <a:pathLst>
              <a:path w="5260181" h="793203">
                <a:moveTo>
                  <a:pt x="0" y="0"/>
                </a:moveTo>
                <a:lnTo>
                  <a:pt x="5260182" y="0"/>
                </a:lnTo>
                <a:lnTo>
                  <a:pt x="5260182" y="793203"/>
                </a:lnTo>
                <a:lnTo>
                  <a:pt x="0" y="7932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134595" b="-687592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302695" y="6186475"/>
            <a:ext cx="11295510" cy="2955010"/>
          </a:xfrm>
          <a:custGeom>
            <a:avLst/>
            <a:gdLst/>
            <a:ahLst/>
            <a:cxnLst/>
            <a:rect l="l" t="t" r="r" b="b"/>
            <a:pathLst>
              <a:path w="11295510" h="2955010">
                <a:moveTo>
                  <a:pt x="0" y="0"/>
                </a:moveTo>
                <a:lnTo>
                  <a:pt x="11295510" y="0"/>
                </a:lnTo>
                <a:lnTo>
                  <a:pt x="11295510" y="2955009"/>
                </a:lnTo>
                <a:lnTo>
                  <a:pt x="0" y="29550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1160" b="-2352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6911185" y="2526317"/>
            <a:ext cx="4233907" cy="652205"/>
          </a:xfrm>
          <a:custGeom>
            <a:avLst/>
            <a:gdLst/>
            <a:ahLst/>
            <a:cxnLst/>
            <a:rect l="l" t="t" r="r" b="b"/>
            <a:pathLst>
              <a:path w="4233907" h="652205">
                <a:moveTo>
                  <a:pt x="0" y="0"/>
                </a:moveTo>
                <a:lnTo>
                  <a:pt x="4233907" y="0"/>
                </a:lnTo>
                <a:lnTo>
                  <a:pt x="4233907" y="652204"/>
                </a:lnTo>
                <a:lnTo>
                  <a:pt x="0" y="6522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47015" r="-2421" b="-719753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8187424" y="3911946"/>
            <a:ext cx="2957669" cy="1051196"/>
          </a:xfrm>
          <a:custGeom>
            <a:avLst/>
            <a:gdLst/>
            <a:ahLst/>
            <a:cxnLst/>
            <a:rect l="l" t="t" r="r" b="b"/>
            <a:pathLst>
              <a:path w="2957669" h="1051196">
                <a:moveTo>
                  <a:pt x="0" y="0"/>
                </a:moveTo>
                <a:lnTo>
                  <a:pt x="2957668" y="0"/>
                </a:lnTo>
                <a:lnTo>
                  <a:pt x="2957668" y="1051196"/>
                </a:lnTo>
                <a:lnTo>
                  <a:pt x="0" y="105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4031" t="-184348" r="-4842" b="-426245"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11719920" y="1887111"/>
            <a:ext cx="6068004" cy="7736113"/>
            <a:chOff x="0" y="0"/>
            <a:chExt cx="1598157" cy="203749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598157" cy="2037495"/>
            </a:xfrm>
            <a:custGeom>
              <a:avLst/>
              <a:gdLst/>
              <a:ahLst/>
              <a:cxnLst/>
              <a:rect l="l" t="t" r="r" b="b"/>
              <a:pathLst>
                <a:path w="1598157" h="2037495">
                  <a:moveTo>
                    <a:pt x="0" y="0"/>
                  </a:moveTo>
                  <a:lnTo>
                    <a:pt x="1598157" y="0"/>
                  </a:lnTo>
                  <a:lnTo>
                    <a:pt x="1598157" y="2037495"/>
                  </a:lnTo>
                  <a:lnTo>
                    <a:pt x="0" y="2037495"/>
                  </a:lnTo>
                  <a:close/>
                </a:path>
              </a:pathLst>
            </a:custGeom>
            <a:solidFill>
              <a:srgbClr val="F2F0FF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9525"/>
              <a:ext cx="1598157" cy="20279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37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747418" y="3636367"/>
            <a:ext cx="6005972" cy="1507133"/>
          </a:xfrm>
          <a:custGeom>
            <a:avLst/>
            <a:gdLst/>
            <a:ahLst/>
            <a:cxnLst/>
            <a:rect l="l" t="t" r="r" b="b"/>
            <a:pathLst>
              <a:path w="6005972" h="1507133">
                <a:moveTo>
                  <a:pt x="0" y="0"/>
                </a:moveTo>
                <a:lnTo>
                  <a:pt x="6005972" y="0"/>
                </a:lnTo>
                <a:lnTo>
                  <a:pt x="6005972" y="1507133"/>
                </a:lnTo>
                <a:lnTo>
                  <a:pt x="0" y="15071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69761" b="-95741"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992238" y="838352"/>
            <a:ext cx="14390370" cy="862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>
                <a:solidFill>
                  <a:srgbClr val="6741E8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User Dashboard: Campus Command Center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048677" y="2227988"/>
            <a:ext cx="4418680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400" b="1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Dashboard Overview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048677" y="3041423"/>
            <a:ext cx="5256457" cy="4021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 b="1">
                <a:solidFill>
                  <a:srgbClr val="15213F"/>
                </a:solidFill>
                <a:latin typeface="Roboto Bold"/>
                <a:ea typeface="Roboto Bold"/>
                <a:cs typeface="Roboto Bold"/>
                <a:sym typeface="Roboto Bold"/>
              </a:rPr>
              <a:t>My Listings:</a:t>
            </a:r>
            <a:r>
              <a:rPr lang="en-US" sz="2187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Manage all posted items with View, Edit, Delete actions</a:t>
            </a:r>
          </a:p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 b="1">
                <a:solidFill>
                  <a:srgbClr val="15213F"/>
                </a:solidFill>
                <a:latin typeface="Roboto Bold"/>
                <a:ea typeface="Roboto Bold"/>
                <a:cs typeface="Roboto Bold"/>
                <a:sym typeface="Roboto Bold"/>
              </a:rPr>
              <a:t>Messages:</a:t>
            </a:r>
            <a:r>
              <a:rPr lang="en-US" sz="2187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Real-time inquiries from potential buyers</a:t>
            </a:r>
          </a:p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 b="1">
                <a:solidFill>
                  <a:srgbClr val="15213F"/>
                </a:solidFill>
                <a:latin typeface="Roboto Bold"/>
                <a:ea typeface="Roboto Bold"/>
                <a:cs typeface="Roboto Bold"/>
                <a:sym typeface="Roboto Bold"/>
              </a:rPr>
              <a:t>Account Status:</a:t>
            </a:r>
            <a:r>
              <a:rPr lang="en-US" sz="2187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Verified badge and Premium Member access</a:t>
            </a:r>
          </a:p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 b="1">
                <a:solidFill>
                  <a:srgbClr val="15213F"/>
                </a:solidFill>
                <a:latin typeface="Roboto Bold"/>
                <a:ea typeface="Roboto Bold"/>
                <a:cs typeface="Roboto Bold"/>
                <a:sym typeface="Roboto Bold"/>
              </a:rPr>
              <a:t>Quick Actions:</a:t>
            </a:r>
            <a:r>
              <a:rPr lang="en-US" sz="2187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+ List New Item from the dashboard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048677" y="7264746"/>
            <a:ext cx="5256457" cy="1909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Recent listings display item name, category, price, and live status — e.g., scientific calculator (₹1,500) and python notes (₹200), both posted Mar 19, 2026.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DF1F8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CFE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504691" y="438150"/>
            <a:ext cx="8162234" cy="9848850"/>
          </a:xfrm>
          <a:custGeom>
            <a:avLst/>
            <a:gdLst/>
            <a:ahLst/>
            <a:cxnLst/>
            <a:rect l="l" t="t" r="r" b="b"/>
            <a:pathLst>
              <a:path w="8162234" h="9848850">
                <a:moveTo>
                  <a:pt x="0" y="0"/>
                </a:moveTo>
                <a:lnTo>
                  <a:pt x="8162234" y="0"/>
                </a:lnTo>
                <a:lnTo>
                  <a:pt x="8162234" y="9848850"/>
                </a:lnTo>
                <a:lnTo>
                  <a:pt x="0" y="98488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AutoShape 7"/>
          <p:cNvSpPr/>
          <p:nvPr/>
        </p:nvSpPr>
        <p:spPr>
          <a:xfrm>
            <a:off x="12417985" y="4636207"/>
            <a:ext cx="666750" cy="2900668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8" name="Group 8"/>
          <p:cNvGrpSpPr/>
          <p:nvPr/>
        </p:nvGrpSpPr>
        <p:grpSpPr>
          <a:xfrm>
            <a:off x="9331885" y="3602399"/>
            <a:ext cx="3086100" cy="2058090"/>
            <a:chOff x="0" y="0"/>
            <a:chExt cx="812800" cy="54204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542048"/>
            </a:xfrm>
            <a:custGeom>
              <a:avLst/>
              <a:gdLst/>
              <a:ahLst/>
              <a:cxnLst/>
              <a:rect l="l" t="t" r="r" b="b"/>
              <a:pathLst>
                <a:path w="812800" h="542048">
                  <a:moveTo>
                    <a:pt x="40138" y="0"/>
                  </a:moveTo>
                  <a:lnTo>
                    <a:pt x="772662" y="0"/>
                  </a:lnTo>
                  <a:cubicBezTo>
                    <a:pt x="794829" y="0"/>
                    <a:pt x="812800" y="17971"/>
                    <a:pt x="812800" y="40138"/>
                  </a:cubicBezTo>
                  <a:lnTo>
                    <a:pt x="812800" y="501910"/>
                  </a:lnTo>
                  <a:cubicBezTo>
                    <a:pt x="812800" y="524078"/>
                    <a:pt x="794829" y="542048"/>
                    <a:pt x="772662" y="542048"/>
                  </a:cubicBezTo>
                  <a:lnTo>
                    <a:pt x="40138" y="542048"/>
                  </a:lnTo>
                  <a:cubicBezTo>
                    <a:pt x="17971" y="542048"/>
                    <a:pt x="0" y="524078"/>
                    <a:pt x="0" y="501910"/>
                  </a:cubicBezTo>
                  <a:lnTo>
                    <a:pt x="0" y="40138"/>
                  </a:lnTo>
                  <a:cubicBezTo>
                    <a:pt x="0" y="17971"/>
                    <a:pt x="17971" y="0"/>
                    <a:pt x="40138" y="0"/>
                  </a:cubicBezTo>
                  <a:close/>
                </a:path>
              </a:pathLst>
            </a:custGeom>
            <a:solidFill>
              <a:srgbClr val="E7F2F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9525"/>
              <a:ext cx="812800" cy="5325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37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084735" y="3602399"/>
            <a:ext cx="3086100" cy="2058090"/>
            <a:chOff x="0" y="0"/>
            <a:chExt cx="812800" cy="54204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542048"/>
            </a:xfrm>
            <a:custGeom>
              <a:avLst/>
              <a:gdLst/>
              <a:ahLst/>
              <a:cxnLst/>
              <a:rect l="l" t="t" r="r" b="b"/>
              <a:pathLst>
                <a:path w="812800" h="542048">
                  <a:moveTo>
                    <a:pt x="40138" y="0"/>
                  </a:moveTo>
                  <a:lnTo>
                    <a:pt x="772662" y="0"/>
                  </a:lnTo>
                  <a:cubicBezTo>
                    <a:pt x="794829" y="0"/>
                    <a:pt x="812800" y="17971"/>
                    <a:pt x="812800" y="40138"/>
                  </a:cubicBezTo>
                  <a:lnTo>
                    <a:pt x="812800" y="501910"/>
                  </a:lnTo>
                  <a:cubicBezTo>
                    <a:pt x="812800" y="524078"/>
                    <a:pt x="794829" y="542048"/>
                    <a:pt x="772662" y="542048"/>
                  </a:cubicBezTo>
                  <a:lnTo>
                    <a:pt x="40138" y="542048"/>
                  </a:lnTo>
                  <a:cubicBezTo>
                    <a:pt x="17971" y="542048"/>
                    <a:pt x="0" y="524078"/>
                    <a:pt x="0" y="501910"/>
                  </a:cubicBezTo>
                  <a:lnTo>
                    <a:pt x="0" y="40138"/>
                  </a:lnTo>
                  <a:cubicBezTo>
                    <a:pt x="0" y="17971"/>
                    <a:pt x="17971" y="0"/>
                    <a:pt x="40138" y="0"/>
                  </a:cubicBezTo>
                  <a:close/>
                </a:path>
              </a:pathLst>
            </a:custGeom>
            <a:solidFill>
              <a:srgbClr val="E7F2FF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9525"/>
              <a:ext cx="812800" cy="5325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37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4173200" y="6048266"/>
            <a:ext cx="3086100" cy="2058090"/>
            <a:chOff x="0" y="0"/>
            <a:chExt cx="812800" cy="54204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542048"/>
            </a:xfrm>
            <a:custGeom>
              <a:avLst/>
              <a:gdLst/>
              <a:ahLst/>
              <a:cxnLst/>
              <a:rect l="l" t="t" r="r" b="b"/>
              <a:pathLst>
                <a:path w="812800" h="542048">
                  <a:moveTo>
                    <a:pt x="42647" y="0"/>
                  </a:moveTo>
                  <a:lnTo>
                    <a:pt x="770153" y="0"/>
                  </a:lnTo>
                  <a:cubicBezTo>
                    <a:pt x="781464" y="0"/>
                    <a:pt x="792311" y="4493"/>
                    <a:pt x="800309" y="12491"/>
                  </a:cubicBezTo>
                  <a:cubicBezTo>
                    <a:pt x="808307" y="20489"/>
                    <a:pt x="812800" y="31336"/>
                    <a:pt x="812800" y="42647"/>
                  </a:cubicBezTo>
                  <a:lnTo>
                    <a:pt x="812800" y="499402"/>
                  </a:lnTo>
                  <a:cubicBezTo>
                    <a:pt x="812800" y="522955"/>
                    <a:pt x="793706" y="542048"/>
                    <a:pt x="770153" y="542048"/>
                  </a:cubicBezTo>
                  <a:lnTo>
                    <a:pt x="42647" y="542048"/>
                  </a:lnTo>
                  <a:cubicBezTo>
                    <a:pt x="31336" y="542048"/>
                    <a:pt x="20489" y="537555"/>
                    <a:pt x="12491" y="529557"/>
                  </a:cubicBezTo>
                  <a:cubicBezTo>
                    <a:pt x="4493" y="521560"/>
                    <a:pt x="0" y="510712"/>
                    <a:pt x="0" y="499402"/>
                  </a:cubicBezTo>
                  <a:lnTo>
                    <a:pt x="0" y="42647"/>
                  </a:lnTo>
                  <a:cubicBezTo>
                    <a:pt x="0" y="31336"/>
                    <a:pt x="4493" y="20489"/>
                    <a:pt x="12491" y="12491"/>
                  </a:cubicBezTo>
                  <a:cubicBezTo>
                    <a:pt x="20489" y="4493"/>
                    <a:pt x="31336" y="0"/>
                    <a:pt x="42647" y="0"/>
                  </a:cubicBezTo>
                  <a:close/>
                </a:path>
              </a:pathLst>
            </a:custGeom>
            <a:solidFill>
              <a:srgbClr val="E7F2FF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9525"/>
              <a:ext cx="812800" cy="5325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37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0458057" y="6108165"/>
            <a:ext cx="3086100" cy="2058090"/>
            <a:chOff x="0" y="0"/>
            <a:chExt cx="812800" cy="54204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542048"/>
            </a:xfrm>
            <a:custGeom>
              <a:avLst/>
              <a:gdLst/>
              <a:ahLst/>
              <a:cxnLst/>
              <a:rect l="l" t="t" r="r" b="b"/>
              <a:pathLst>
                <a:path w="812800" h="542048">
                  <a:moveTo>
                    <a:pt x="40138" y="0"/>
                  </a:moveTo>
                  <a:lnTo>
                    <a:pt x="772662" y="0"/>
                  </a:lnTo>
                  <a:cubicBezTo>
                    <a:pt x="794829" y="0"/>
                    <a:pt x="812800" y="17971"/>
                    <a:pt x="812800" y="40138"/>
                  </a:cubicBezTo>
                  <a:lnTo>
                    <a:pt x="812800" y="501910"/>
                  </a:lnTo>
                  <a:cubicBezTo>
                    <a:pt x="812800" y="524078"/>
                    <a:pt x="794829" y="542048"/>
                    <a:pt x="772662" y="542048"/>
                  </a:cubicBezTo>
                  <a:lnTo>
                    <a:pt x="40138" y="542048"/>
                  </a:lnTo>
                  <a:cubicBezTo>
                    <a:pt x="17971" y="542048"/>
                    <a:pt x="0" y="524078"/>
                    <a:pt x="0" y="501910"/>
                  </a:cubicBezTo>
                  <a:lnTo>
                    <a:pt x="0" y="40138"/>
                  </a:lnTo>
                  <a:cubicBezTo>
                    <a:pt x="0" y="17971"/>
                    <a:pt x="17971" y="0"/>
                    <a:pt x="40138" y="0"/>
                  </a:cubicBezTo>
                  <a:close/>
                </a:path>
              </a:pathLst>
            </a:custGeom>
            <a:solidFill>
              <a:srgbClr val="E7F2FF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9525"/>
              <a:ext cx="812800" cy="5325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37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9144000" y="538071"/>
            <a:ext cx="3325416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75"/>
              </a:lnSpc>
            </a:pPr>
            <a:r>
              <a:rPr lang="en-US" sz="3875" b="1">
                <a:solidFill>
                  <a:srgbClr val="6E4FE3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List Your Item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331885" y="1728696"/>
            <a:ext cx="8425405" cy="1364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72"/>
              </a:lnSpc>
            </a:pPr>
            <a:r>
              <a:rPr lang="en-US" sz="27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Students fill in item details to reach thousands of campus buyers. Listings include title, category, price, condition description, and contact info.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3284760" y="3965724"/>
            <a:ext cx="2553091" cy="1209875"/>
            <a:chOff x="0" y="0"/>
            <a:chExt cx="3404121" cy="1613167"/>
          </a:xfrm>
        </p:grpSpPr>
        <p:sp>
          <p:nvSpPr>
            <p:cNvPr id="23" name="TextBox 23"/>
            <p:cNvSpPr txBox="1"/>
            <p:nvPr/>
          </p:nvSpPr>
          <p:spPr>
            <a:xfrm>
              <a:off x="0" y="-9525"/>
              <a:ext cx="3404121" cy="6190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62"/>
                </a:lnSpc>
              </a:pPr>
              <a:r>
                <a:rPr lang="en-US" sz="2874">
                  <a:solidFill>
                    <a:srgbClr val="3257B8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Set Price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792404"/>
              <a:ext cx="3404121" cy="8207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37"/>
                </a:lnSpc>
              </a:pPr>
              <a:r>
                <a:rPr lang="en-US" sz="2249">
                  <a:solidFill>
                    <a:srgbClr val="15213F"/>
                  </a:solidFill>
                  <a:latin typeface="Roboto"/>
                  <a:ea typeface="Roboto"/>
                  <a:cs typeface="Roboto"/>
                  <a:sym typeface="Roboto"/>
                </a:rPr>
                <a:t>Enter price (₹) and brief description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0724561" y="6472373"/>
            <a:ext cx="2553091" cy="1209875"/>
            <a:chOff x="0" y="0"/>
            <a:chExt cx="3404121" cy="1613167"/>
          </a:xfrm>
        </p:grpSpPr>
        <p:sp>
          <p:nvSpPr>
            <p:cNvPr id="26" name="TextBox 26"/>
            <p:cNvSpPr txBox="1"/>
            <p:nvPr/>
          </p:nvSpPr>
          <p:spPr>
            <a:xfrm>
              <a:off x="0" y="-9525"/>
              <a:ext cx="3404121" cy="6190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62"/>
                </a:lnSpc>
              </a:pPr>
              <a:r>
                <a:rPr lang="en-US" sz="2874">
                  <a:solidFill>
                    <a:srgbClr val="3257B8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Post Listing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792404"/>
              <a:ext cx="3404121" cy="8207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37"/>
                </a:lnSpc>
              </a:pPr>
              <a:r>
                <a:rPr lang="en-US" sz="2249">
                  <a:solidFill>
                    <a:srgbClr val="15213F"/>
                  </a:solidFill>
                  <a:latin typeface="Roboto"/>
                  <a:ea typeface="Roboto"/>
                  <a:cs typeface="Roboto"/>
                  <a:sym typeface="Roboto"/>
                </a:rPr>
                <a:t>Publish live with contact details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30163" y="3995673"/>
            <a:ext cx="2553091" cy="1209875"/>
            <a:chOff x="0" y="0"/>
            <a:chExt cx="3404121" cy="1613167"/>
          </a:xfrm>
        </p:grpSpPr>
        <p:sp>
          <p:nvSpPr>
            <p:cNvPr id="29" name="TextBox 29"/>
            <p:cNvSpPr txBox="1"/>
            <p:nvPr/>
          </p:nvSpPr>
          <p:spPr>
            <a:xfrm>
              <a:off x="0" y="-9525"/>
              <a:ext cx="3404121" cy="6190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62"/>
                </a:lnSpc>
              </a:pPr>
              <a:r>
                <a:rPr lang="en-US" sz="2874">
                  <a:solidFill>
                    <a:srgbClr val="3257B8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Enter Title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792404"/>
              <a:ext cx="3404121" cy="8207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37"/>
                </a:lnSpc>
              </a:pPr>
              <a:r>
                <a:rPr lang="en-US" sz="2249">
                  <a:solidFill>
                    <a:srgbClr val="15213F"/>
                  </a:solidFill>
                  <a:latin typeface="Roboto"/>
                  <a:ea typeface="Roboto"/>
                  <a:cs typeface="Roboto"/>
                  <a:sym typeface="Roboto"/>
                </a:rPr>
                <a:t>Add item title and category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4439705" y="6472373"/>
            <a:ext cx="2553091" cy="1209875"/>
            <a:chOff x="0" y="0"/>
            <a:chExt cx="3404121" cy="1613167"/>
          </a:xfrm>
        </p:grpSpPr>
        <p:sp>
          <p:nvSpPr>
            <p:cNvPr id="32" name="TextBox 32"/>
            <p:cNvSpPr txBox="1"/>
            <p:nvPr/>
          </p:nvSpPr>
          <p:spPr>
            <a:xfrm>
              <a:off x="0" y="-9525"/>
              <a:ext cx="3404121" cy="6190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62"/>
                </a:lnSpc>
              </a:pPr>
              <a:r>
                <a:rPr lang="en-US" sz="2874">
                  <a:solidFill>
                    <a:srgbClr val="3257B8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Upload Photos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792404"/>
              <a:ext cx="3404121" cy="8207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37"/>
                </a:lnSpc>
              </a:pPr>
              <a:r>
                <a:rPr lang="en-US" sz="2249">
                  <a:solidFill>
                    <a:srgbClr val="15213F"/>
                  </a:solidFill>
                  <a:latin typeface="Roboto"/>
                  <a:ea typeface="Roboto"/>
                  <a:cs typeface="Roboto"/>
                  <a:sym typeface="Roboto"/>
                </a:rPr>
                <a:t>Add JPG/PNG images (max 5MB)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9251047" y="8446507"/>
            <a:ext cx="8833104" cy="1364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72"/>
              </a:lnSpc>
            </a:pPr>
            <a:r>
              <a:rPr lang="en-US" sz="27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Contact details (phone/email or WhatsApp) are included so buyers can reach the seller directly. Drag-and-drop image upload supports JPG and PNG formats up to 5MB.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DF1F8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CFE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6986741" y="696226"/>
            <a:ext cx="3784418" cy="5830485"/>
          </a:xfrm>
          <a:custGeom>
            <a:avLst/>
            <a:gdLst/>
            <a:ahLst/>
            <a:cxnLst/>
            <a:rect l="l" t="t" r="r" b="b"/>
            <a:pathLst>
              <a:path w="3784418" h="5830485">
                <a:moveTo>
                  <a:pt x="0" y="0"/>
                </a:moveTo>
                <a:lnTo>
                  <a:pt x="3784418" y="0"/>
                </a:lnTo>
                <a:lnTo>
                  <a:pt x="3784418" y="5830485"/>
                </a:lnTo>
                <a:lnTo>
                  <a:pt x="0" y="58304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417" r="-4372" b="-6646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351589" y="986280"/>
            <a:ext cx="3871477" cy="2138510"/>
          </a:xfrm>
          <a:custGeom>
            <a:avLst/>
            <a:gdLst/>
            <a:ahLst/>
            <a:cxnLst/>
            <a:rect l="l" t="t" r="r" b="b"/>
            <a:pathLst>
              <a:path w="3871477" h="2138510">
                <a:moveTo>
                  <a:pt x="0" y="0"/>
                </a:moveTo>
                <a:lnTo>
                  <a:pt x="3871477" y="0"/>
                </a:lnTo>
                <a:lnTo>
                  <a:pt x="3871477" y="2138511"/>
                </a:lnTo>
                <a:lnTo>
                  <a:pt x="0" y="21385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191910" b="-130542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0923152" y="696226"/>
            <a:ext cx="3428437" cy="5435684"/>
          </a:xfrm>
          <a:custGeom>
            <a:avLst/>
            <a:gdLst/>
            <a:ahLst/>
            <a:cxnLst/>
            <a:rect l="l" t="t" r="r" b="b"/>
            <a:pathLst>
              <a:path w="3428437" h="5435684">
                <a:moveTo>
                  <a:pt x="0" y="0"/>
                </a:moveTo>
                <a:lnTo>
                  <a:pt x="3428437" y="0"/>
                </a:lnTo>
                <a:lnTo>
                  <a:pt x="3428437" y="5435684"/>
                </a:lnTo>
                <a:lnTo>
                  <a:pt x="0" y="54356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992238" y="784622"/>
            <a:ext cx="7088238" cy="90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6842E8"/>
                </a:solidFill>
                <a:latin typeface="Roboto Slab"/>
                <a:ea typeface="Roboto Slab"/>
                <a:cs typeface="Roboto Slab"/>
                <a:sym typeface="Roboto Slab"/>
              </a:rPr>
              <a:t>Admin Portal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2238" y="2388841"/>
            <a:ext cx="4428411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3000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Super Admin Dashboard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2238" y="3020016"/>
            <a:ext cx="5256457" cy="1379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5"/>
              </a:lnSpc>
            </a:pPr>
            <a:r>
              <a:rPr lang="en-US" sz="23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Secure management access for platform oversight. Tracks platform health and user activity in real time.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92238" y="4626473"/>
            <a:ext cx="5256457" cy="3450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61950" lvl="1" indent="-180975" algn="l">
              <a:lnSpc>
                <a:spcPts val="3908"/>
              </a:lnSpc>
              <a:buFont typeface="Arial"/>
              <a:buChar char="•"/>
            </a:pPr>
            <a:r>
              <a:rPr lang="en-US" sz="24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Total Users: </a:t>
            </a:r>
            <a:r>
              <a:rPr lang="en-US" sz="2400" b="1">
                <a:solidFill>
                  <a:srgbClr val="15213F"/>
                </a:solidFill>
                <a:latin typeface="Roboto Bold"/>
                <a:ea typeface="Roboto Bold"/>
                <a:cs typeface="Roboto Bold"/>
                <a:sym typeface="Roboto Bold"/>
              </a:rPr>
              <a:t>4</a:t>
            </a:r>
            <a:r>
              <a:rPr lang="en-US" sz="24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(↑ +12% this month)</a:t>
            </a:r>
          </a:p>
          <a:p>
            <a:pPr marL="361950" lvl="1" indent="-180975" algn="l">
              <a:lnSpc>
                <a:spcPts val="3908"/>
              </a:lnSpc>
              <a:buFont typeface="Arial"/>
              <a:buChar char="•"/>
            </a:pPr>
            <a:r>
              <a:rPr lang="en-US" sz="24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Market Items: </a:t>
            </a:r>
            <a:r>
              <a:rPr lang="en-US" sz="2400" b="1">
                <a:solidFill>
                  <a:srgbClr val="15213F"/>
                </a:solidFill>
                <a:latin typeface="Roboto Bold"/>
                <a:ea typeface="Roboto Bold"/>
                <a:cs typeface="Roboto Bold"/>
                <a:sym typeface="Roboto Bold"/>
              </a:rPr>
              <a:t>3</a:t>
            </a:r>
            <a:r>
              <a:rPr lang="en-US" sz="24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active listings</a:t>
            </a:r>
          </a:p>
          <a:p>
            <a:pPr marL="361950" lvl="1" indent="-180975" algn="l">
              <a:lnSpc>
                <a:spcPts val="3908"/>
              </a:lnSpc>
              <a:buFont typeface="Arial"/>
              <a:buChar char="•"/>
            </a:pPr>
            <a:r>
              <a:rPr lang="en-US" sz="24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Total Messages: </a:t>
            </a:r>
            <a:r>
              <a:rPr lang="en-US" sz="2400" b="1">
                <a:solidFill>
                  <a:srgbClr val="15213F"/>
                </a:solidFill>
                <a:latin typeface="Roboto Bold"/>
                <a:ea typeface="Roboto Bold"/>
                <a:cs typeface="Roboto Bold"/>
                <a:sym typeface="Roboto Bold"/>
              </a:rPr>
              <a:t>4</a:t>
            </a:r>
            <a:r>
              <a:rPr lang="en-US" sz="24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real-time activity</a:t>
            </a:r>
          </a:p>
          <a:p>
            <a:pPr marL="361950" lvl="1" indent="-180975" algn="l">
              <a:lnSpc>
                <a:spcPts val="3908"/>
              </a:lnSpc>
              <a:buFont typeface="Arial"/>
              <a:buChar char="•"/>
            </a:pPr>
            <a:r>
              <a:rPr lang="en-US" sz="24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Recent Registrations with email and date</a:t>
            </a:r>
          </a:p>
          <a:p>
            <a:pPr marL="361950" lvl="1" indent="-180975" algn="l">
              <a:lnSpc>
                <a:spcPts val="3908"/>
              </a:lnSpc>
              <a:buFont typeface="Arial"/>
              <a:buChar char="•"/>
            </a:pPr>
            <a:r>
              <a:rPr lang="en-US" sz="24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New Listings overview with category and price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992238" y="8631584"/>
            <a:ext cx="4428411" cy="699209"/>
            <a:chOff x="0" y="0"/>
            <a:chExt cx="5904548" cy="932279"/>
          </a:xfrm>
        </p:grpSpPr>
        <p:grpSp>
          <p:nvGrpSpPr>
            <p:cNvPr id="14" name="Group 14"/>
            <p:cNvGrpSpPr/>
            <p:nvPr/>
          </p:nvGrpSpPr>
          <p:grpSpPr>
            <a:xfrm>
              <a:off x="0" y="0"/>
              <a:ext cx="5904548" cy="932279"/>
              <a:chOff x="0" y="0"/>
              <a:chExt cx="4499369" cy="710413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4499356" cy="710438"/>
              </a:xfrm>
              <a:custGeom>
                <a:avLst/>
                <a:gdLst/>
                <a:ahLst/>
                <a:cxnLst/>
                <a:rect l="l" t="t" r="r" b="b"/>
                <a:pathLst>
                  <a:path w="4499356" h="710438">
                    <a:moveTo>
                      <a:pt x="0" y="45339"/>
                    </a:moveTo>
                    <a:cubicBezTo>
                      <a:pt x="0" y="20320"/>
                      <a:pt x="20320" y="0"/>
                      <a:pt x="45339" y="0"/>
                    </a:cubicBezTo>
                    <a:lnTo>
                      <a:pt x="4454017" y="0"/>
                    </a:lnTo>
                    <a:cubicBezTo>
                      <a:pt x="4479036" y="0"/>
                      <a:pt x="4499356" y="20320"/>
                      <a:pt x="4499356" y="45339"/>
                    </a:cubicBezTo>
                    <a:lnTo>
                      <a:pt x="4499356" y="665099"/>
                    </a:lnTo>
                    <a:cubicBezTo>
                      <a:pt x="4499356" y="690118"/>
                      <a:pt x="4479036" y="710438"/>
                      <a:pt x="4454017" y="710438"/>
                    </a:cubicBezTo>
                    <a:lnTo>
                      <a:pt x="45339" y="710438"/>
                    </a:lnTo>
                    <a:cubicBezTo>
                      <a:pt x="20320" y="710438"/>
                      <a:pt x="0" y="690118"/>
                      <a:pt x="0" y="665099"/>
                    </a:cubicBezTo>
                    <a:close/>
                  </a:path>
                </a:pathLst>
              </a:custGeom>
              <a:solidFill>
                <a:srgbClr val="D7DFF4"/>
              </a:solidFill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297643" y="53447"/>
              <a:ext cx="5309245" cy="7301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90"/>
                </a:lnSpc>
              </a:pPr>
              <a:r>
                <a:rPr lang="en-US" sz="2296">
                  <a:solidFill>
                    <a:srgbClr val="15213F"/>
                  </a:solidFill>
                  <a:latin typeface="Roboto"/>
                  <a:ea typeface="Roboto"/>
                  <a:cs typeface="Roboto"/>
                  <a:sym typeface="Roboto"/>
                </a:rPr>
                <a:t>OM BAGADE — SUPER ADMIN</a:t>
              </a:r>
            </a:p>
          </p:txBody>
        </p:sp>
      </p:grpSp>
      <p:sp>
        <p:nvSpPr>
          <p:cNvPr id="17" name="Freeform 17"/>
          <p:cNvSpPr/>
          <p:nvPr/>
        </p:nvSpPr>
        <p:spPr>
          <a:xfrm>
            <a:off x="14503989" y="3206779"/>
            <a:ext cx="3465268" cy="1995107"/>
          </a:xfrm>
          <a:custGeom>
            <a:avLst/>
            <a:gdLst/>
            <a:ahLst/>
            <a:cxnLst/>
            <a:rect l="l" t="t" r="r" b="b"/>
            <a:pathLst>
              <a:path w="3465268" h="1995107">
                <a:moveTo>
                  <a:pt x="0" y="0"/>
                </a:moveTo>
                <a:lnTo>
                  <a:pt x="3465268" y="0"/>
                </a:lnTo>
                <a:lnTo>
                  <a:pt x="3465268" y="1995107"/>
                </a:lnTo>
                <a:lnTo>
                  <a:pt x="0" y="19951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1271" r="-102988" b="-130542"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6986741" y="6935436"/>
            <a:ext cx="7364848" cy="3093560"/>
          </a:xfrm>
          <a:custGeom>
            <a:avLst/>
            <a:gdLst/>
            <a:ahLst/>
            <a:cxnLst/>
            <a:rect l="l" t="t" r="r" b="b"/>
            <a:pathLst>
              <a:path w="7364848" h="3093560">
                <a:moveTo>
                  <a:pt x="0" y="0"/>
                </a:moveTo>
                <a:lnTo>
                  <a:pt x="7364848" y="0"/>
                </a:lnTo>
                <a:lnTo>
                  <a:pt x="7364848" y="3093560"/>
                </a:lnTo>
                <a:lnTo>
                  <a:pt x="0" y="30935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696" t="-99377" r="-102985" b="-15278"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4351589" y="5842415"/>
            <a:ext cx="3489490" cy="4186581"/>
          </a:xfrm>
          <a:custGeom>
            <a:avLst/>
            <a:gdLst/>
            <a:ahLst/>
            <a:cxnLst/>
            <a:rect l="l" t="t" r="r" b="b"/>
            <a:pathLst>
              <a:path w="3489490" h="4186581">
                <a:moveTo>
                  <a:pt x="0" y="0"/>
                </a:moveTo>
                <a:lnTo>
                  <a:pt x="3489490" y="0"/>
                </a:lnTo>
                <a:lnTo>
                  <a:pt x="3489490" y="4186581"/>
                </a:lnTo>
                <a:lnTo>
                  <a:pt x="0" y="41865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60517" t="-123126" r="-254908" b="-37010"/>
            </a:stretch>
          </a:blipFill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DF1F8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202959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CFE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337195" y="662090"/>
            <a:ext cx="9387788" cy="9387788"/>
            <a:chOff x="0" y="0"/>
            <a:chExt cx="11300028" cy="11300028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11300079" cy="11300079"/>
            </a:xfrm>
            <a:custGeom>
              <a:avLst/>
              <a:gdLst/>
              <a:ahLst/>
              <a:cxnLst/>
              <a:rect l="l" t="t" r="r" b="b"/>
              <a:pathLst>
                <a:path w="11300079" h="11300079">
                  <a:moveTo>
                    <a:pt x="0" y="0"/>
                  </a:moveTo>
                  <a:lnTo>
                    <a:pt x="11300079" y="0"/>
                  </a:lnTo>
                  <a:lnTo>
                    <a:pt x="11300079" y="11300079"/>
                  </a:lnTo>
                  <a:lnTo>
                    <a:pt x="0" y="11300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1028700" y="391262"/>
            <a:ext cx="4302363" cy="503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00"/>
              </a:lnSpc>
            </a:pPr>
            <a:r>
              <a:rPr lang="en-US" sz="3200" b="1">
                <a:solidFill>
                  <a:srgbClr val="6842E8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Database Architecture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323627" y="1328682"/>
            <a:ext cx="8797063" cy="1264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35"/>
              </a:lnSpc>
            </a:pPr>
            <a:r>
              <a:rPr lang="en-US" sz="27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CampXchange is built on a structured MySQL database supporting all core marketplace operations — from user authentication to live listings and messaging.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630840" y="3050130"/>
            <a:ext cx="4062743" cy="596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86"/>
              </a:lnSpc>
            </a:pPr>
            <a:r>
              <a:rPr lang="en-US" sz="3900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Core Tables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520875" y="4199037"/>
            <a:ext cx="7738425" cy="2940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7194" lvl="1" indent="-203597" algn="l">
              <a:lnSpc>
                <a:spcPts val="3335"/>
              </a:lnSpc>
              <a:buFont typeface="Arial"/>
              <a:buChar char="•"/>
            </a:pPr>
            <a:r>
              <a:rPr lang="en-US" sz="2700" b="1">
                <a:solidFill>
                  <a:srgbClr val="15213F"/>
                </a:solidFill>
                <a:latin typeface="Roboto Bold"/>
                <a:ea typeface="Roboto Bold"/>
                <a:cs typeface="Roboto Bold"/>
                <a:sym typeface="Roboto Bold"/>
              </a:rPr>
              <a:t>Users</a:t>
            </a:r>
            <a:r>
              <a:rPr lang="en-US" sz="27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— Student profiles with verification status and contact details</a:t>
            </a:r>
          </a:p>
          <a:p>
            <a:pPr marL="407194" lvl="1" indent="-203597" algn="l">
              <a:lnSpc>
                <a:spcPts val="3335"/>
              </a:lnSpc>
              <a:buFont typeface="Arial"/>
              <a:buChar char="•"/>
            </a:pPr>
            <a:r>
              <a:rPr lang="en-US" sz="2700" b="1">
                <a:solidFill>
                  <a:srgbClr val="15213F"/>
                </a:solidFill>
                <a:latin typeface="Roboto Bold"/>
                <a:ea typeface="Roboto Bold"/>
                <a:cs typeface="Roboto Bold"/>
                <a:sym typeface="Roboto Bold"/>
              </a:rPr>
              <a:t>Listings</a:t>
            </a:r>
            <a:r>
              <a:rPr lang="en-US" sz="27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— Item title, category, price, condition, and live status</a:t>
            </a:r>
          </a:p>
          <a:p>
            <a:pPr marL="407194" lvl="1" indent="-203597" algn="l">
              <a:lnSpc>
                <a:spcPts val="3335"/>
              </a:lnSpc>
              <a:buFont typeface="Arial"/>
              <a:buChar char="•"/>
            </a:pPr>
            <a:r>
              <a:rPr lang="en-US" sz="2700" b="1">
                <a:solidFill>
                  <a:srgbClr val="15213F"/>
                </a:solidFill>
                <a:latin typeface="Roboto Bold"/>
                <a:ea typeface="Roboto Bold"/>
                <a:cs typeface="Roboto Bold"/>
                <a:sym typeface="Roboto Bold"/>
              </a:rPr>
              <a:t>Messages</a:t>
            </a:r>
            <a:r>
              <a:rPr lang="en-US" sz="27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— Buyer-seller inquiry threads</a:t>
            </a:r>
          </a:p>
          <a:p>
            <a:pPr marL="407194" lvl="1" indent="-203597" algn="l">
              <a:lnSpc>
                <a:spcPts val="3335"/>
              </a:lnSpc>
              <a:buFont typeface="Arial"/>
              <a:buChar char="•"/>
            </a:pPr>
            <a:r>
              <a:rPr lang="en-US" sz="2700" b="1">
                <a:solidFill>
                  <a:srgbClr val="15213F"/>
                </a:solidFill>
                <a:latin typeface="Roboto Bold"/>
                <a:ea typeface="Roboto Bold"/>
                <a:cs typeface="Roboto Bold"/>
                <a:sym typeface="Roboto Bold"/>
              </a:rPr>
              <a:t>Admin</a:t>
            </a:r>
            <a:r>
              <a:rPr lang="en-US" sz="27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— Super admin credentials and portal access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801183" y="7758809"/>
            <a:ext cx="7784799" cy="13305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7"/>
              </a:lnSpc>
            </a:pPr>
            <a:r>
              <a:rPr lang="en-US" sz="2799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All transactions are tied to verified student accounts, ensuring a</a:t>
            </a:r>
          </a:p>
          <a:p>
            <a:pPr algn="l">
              <a:lnSpc>
                <a:spcPts val="3458"/>
              </a:lnSpc>
            </a:pPr>
            <a:r>
              <a:rPr lang="en-US" sz="2799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secure and accountable campus marketplace.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DF1F8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CFE"/>
            </a:solidFill>
          </p:spPr>
        </p:sp>
      </p:grpSp>
      <p:sp>
        <p:nvSpPr>
          <p:cNvPr id="6" name="Freeform 6" descr="preencoded.png"/>
          <p:cNvSpPr/>
          <p:nvPr/>
        </p:nvSpPr>
        <p:spPr>
          <a:xfrm>
            <a:off x="7850238" y="1986115"/>
            <a:ext cx="453628" cy="453628"/>
          </a:xfrm>
          <a:custGeom>
            <a:avLst/>
            <a:gdLst/>
            <a:ahLst/>
            <a:cxnLst/>
            <a:rect l="l" t="t" r="r" b="b"/>
            <a:pathLst>
              <a:path w="453628" h="453628">
                <a:moveTo>
                  <a:pt x="0" y="0"/>
                </a:moveTo>
                <a:lnTo>
                  <a:pt x="453628" y="0"/>
                </a:lnTo>
                <a:lnTo>
                  <a:pt x="453628" y="453628"/>
                </a:lnTo>
                <a:lnTo>
                  <a:pt x="0" y="4536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 t="-10416" b="-10416"/>
            </a:stretch>
          </a:blipFill>
        </p:spPr>
      </p:sp>
      <p:sp>
        <p:nvSpPr>
          <p:cNvPr id="7" name="Freeform 7" descr="preencoded.png"/>
          <p:cNvSpPr/>
          <p:nvPr/>
        </p:nvSpPr>
        <p:spPr>
          <a:xfrm>
            <a:off x="7850238" y="3819077"/>
            <a:ext cx="453628" cy="453628"/>
          </a:xfrm>
          <a:custGeom>
            <a:avLst/>
            <a:gdLst/>
            <a:ahLst/>
            <a:cxnLst/>
            <a:rect l="l" t="t" r="r" b="b"/>
            <a:pathLst>
              <a:path w="453628" h="453628">
                <a:moveTo>
                  <a:pt x="0" y="0"/>
                </a:moveTo>
                <a:lnTo>
                  <a:pt x="453628" y="0"/>
                </a:lnTo>
                <a:lnTo>
                  <a:pt x="453628" y="453628"/>
                </a:lnTo>
                <a:lnTo>
                  <a:pt x="0" y="45362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 t="-32291" b="-32291"/>
            </a:stretch>
          </a:blipFill>
        </p:spPr>
      </p:sp>
      <p:sp>
        <p:nvSpPr>
          <p:cNvPr id="8" name="Freeform 8" descr="preencoded.png"/>
          <p:cNvSpPr/>
          <p:nvPr/>
        </p:nvSpPr>
        <p:spPr>
          <a:xfrm>
            <a:off x="7850238" y="5652049"/>
            <a:ext cx="453628" cy="453628"/>
          </a:xfrm>
          <a:custGeom>
            <a:avLst/>
            <a:gdLst/>
            <a:ahLst/>
            <a:cxnLst/>
            <a:rect l="l" t="t" r="r" b="b"/>
            <a:pathLst>
              <a:path w="453628" h="453628">
                <a:moveTo>
                  <a:pt x="0" y="0"/>
                </a:moveTo>
                <a:lnTo>
                  <a:pt x="453628" y="0"/>
                </a:lnTo>
                <a:lnTo>
                  <a:pt x="453628" y="453628"/>
                </a:lnTo>
                <a:lnTo>
                  <a:pt x="0" y="45362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 descr="preencoded.png"/>
          <p:cNvSpPr/>
          <p:nvPr/>
        </p:nvSpPr>
        <p:spPr>
          <a:xfrm>
            <a:off x="7850238" y="7485012"/>
            <a:ext cx="453628" cy="453628"/>
          </a:xfrm>
          <a:custGeom>
            <a:avLst/>
            <a:gdLst/>
            <a:ahLst/>
            <a:cxnLst/>
            <a:rect l="l" t="t" r="r" b="b"/>
            <a:pathLst>
              <a:path w="453628" h="453628">
                <a:moveTo>
                  <a:pt x="0" y="0"/>
                </a:moveTo>
                <a:lnTo>
                  <a:pt x="453628" y="0"/>
                </a:lnTo>
                <a:lnTo>
                  <a:pt x="453628" y="453628"/>
                </a:lnTo>
                <a:lnTo>
                  <a:pt x="0" y="45362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 t="-16667" b="-16665"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627279" y="1385035"/>
            <a:ext cx="6277945" cy="1202160"/>
          </a:xfrm>
          <a:custGeom>
            <a:avLst/>
            <a:gdLst/>
            <a:ahLst/>
            <a:cxnLst/>
            <a:rect l="l" t="t" r="r" b="b"/>
            <a:pathLst>
              <a:path w="6277945" h="1202160">
                <a:moveTo>
                  <a:pt x="0" y="0"/>
                </a:moveTo>
                <a:lnTo>
                  <a:pt x="6277945" y="0"/>
                </a:lnTo>
                <a:lnTo>
                  <a:pt x="6277945" y="1202160"/>
                </a:lnTo>
                <a:lnTo>
                  <a:pt x="0" y="120216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028700" y="2843732"/>
            <a:ext cx="5821381" cy="6830768"/>
          </a:xfrm>
          <a:custGeom>
            <a:avLst/>
            <a:gdLst/>
            <a:ahLst/>
            <a:cxnLst/>
            <a:rect l="l" t="t" r="r" b="b"/>
            <a:pathLst>
              <a:path w="5821381" h="6830768">
                <a:moveTo>
                  <a:pt x="0" y="0"/>
                </a:moveTo>
                <a:lnTo>
                  <a:pt x="5821381" y="0"/>
                </a:lnTo>
                <a:lnTo>
                  <a:pt x="5821381" y="6830768"/>
                </a:lnTo>
                <a:lnTo>
                  <a:pt x="0" y="683076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7831188" y="824360"/>
            <a:ext cx="7029847" cy="693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37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Why campXchange Works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494366" y="1975439"/>
            <a:ext cx="3384233" cy="436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9"/>
              </a:lnSpc>
            </a:pPr>
            <a:r>
              <a:rPr lang="en-US" sz="2799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Trusted Community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850238" y="2647490"/>
            <a:ext cx="9445523" cy="8971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60"/>
              </a:lnSpc>
            </a:pPr>
            <a:r>
              <a:rPr lang="en-US" sz="2499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Verified student accounts ensure safe and secure transactions for everyone on campus.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494366" y="3800027"/>
            <a:ext cx="2991564" cy="436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9"/>
              </a:lnSpc>
            </a:pPr>
            <a:r>
              <a:rPr lang="en-US" sz="2799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Fast &amp; Easy Setup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850238" y="4535810"/>
            <a:ext cx="9445523" cy="8971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60"/>
              </a:lnSpc>
            </a:pPr>
            <a:r>
              <a:rPr lang="en-US" sz="2499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Students can register, list items, and start trading within minutes of signing up.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494366" y="5668797"/>
            <a:ext cx="3661172" cy="436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9"/>
              </a:lnSpc>
            </a:pPr>
            <a:r>
              <a:rPr lang="en-US" sz="2799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Real-Time Messaging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850238" y="6286652"/>
            <a:ext cx="9445523" cy="8971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60"/>
              </a:lnSpc>
            </a:pPr>
            <a:r>
              <a:rPr lang="en-US" sz="2499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Built-in messaging connects buyers and sellers instantly for seamless campus commerce.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494366" y="7456437"/>
            <a:ext cx="2965371" cy="436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9"/>
              </a:lnSpc>
            </a:pPr>
            <a:r>
              <a:rPr lang="en-US" sz="2799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Built for Students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850238" y="8262490"/>
            <a:ext cx="9445523" cy="8971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60"/>
              </a:lnSpc>
            </a:pPr>
            <a:r>
              <a:rPr lang="en-US" sz="2499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Every feature — from categories to pricing — is designed specifically for the campus community.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DF1F8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CFE"/>
            </a:solidFill>
          </p:spPr>
        </p:sp>
      </p:grpSp>
      <p:sp>
        <p:nvSpPr>
          <p:cNvPr id="6" name="Freeform 6" descr="preencoded.png"/>
          <p:cNvSpPr/>
          <p:nvPr/>
        </p:nvSpPr>
        <p:spPr>
          <a:xfrm>
            <a:off x="7993113" y="1881505"/>
            <a:ext cx="453628" cy="453628"/>
          </a:xfrm>
          <a:custGeom>
            <a:avLst/>
            <a:gdLst/>
            <a:ahLst/>
            <a:cxnLst/>
            <a:rect l="l" t="t" r="r" b="b"/>
            <a:pathLst>
              <a:path w="453628" h="453628">
                <a:moveTo>
                  <a:pt x="0" y="0"/>
                </a:moveTo>
                <a:lnTo>
                  <a:pt x="453628" y="0"/>
                </a:lnTo>
                <a:lnTo>
                  <a:pt x="453628" y="453628"/>
                </a:lnTo>
                <a:lnTo>
                  <a:pt x="0" y="4536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 t="-10416" b="-10416"/>
            </a:stretch>
          </a:blipFill>
        </p:spPr>
      </p:sp>
      <p:sp>
        <p:nvSpPr>
          <p:cNvPr id="7" name="Freeform 7" descr="preencoded.png"/>
          <p:cNvSpPr/>
          <p:nvPr/>
        </p:nvSpPr>
        <p:spPr>
          <a:xfrm>
            <a:off x="7993113" y="6671167"/>
            <a:ext cx="453628" cy="453628"/>
          </a:xfrm>
          <a:custGeom>
            <a:avLst/>
            <a:gdLst/>
            <a:ahLst/>
            <a:cxnLst/>
            <a:rect l="l" t="t" r="r" b="b"/>
            <a:pathLst>
              <a:path w="453628" h="453628">
                <a:moveTo>
                  <a:pt x="0" y="0"/>
                </a:moveTo>
                <a:lnTo>
                  <a:pt x="453628" y="0"/>
                </a:lnTo>
                <a:lnTo>
                  <a:pt x="453628" y="453628"/>
                </a:lnTo>
                <a:lnTo>
                  <a:pt x="0" y="45362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 t="-32291" b="-32291"/>
            </a:stretch>
          </a:blipFill>
        </p:spPr>
      </p:sp>
      <p:sp>
        <p:nvSpPr>
          <p:cNvPr id="8" name="Freeform 8" descr="preencoded.png"/>
          <p:cNvSpPr/>
          <p:nvPr/>
        </p:nvSpPr>
        <p:spPr>
          <a:xfrm>
            <a:off x="7993113" y="7875667"/>
            <a:ext cx="453628" cy="453628"/>
          </a:xfrm>
          <a:custGeom>
            <a:avLst/>
            <a:gdLst/>
            <a:ahLst/>
            <a:cxnLst/>
            <a:rect l="l" t="t" r="r" b="b"/>
            <a:pathLst>
              <a:path w="453628" h="453628">
                <a:moveTo>
                  <a:pt x="0" y="0"/>
                </a:moveTo>
                <a:lnTo>
                  <a:pt x="453628" y="0"/>
                </a:lnTo>
                <a:lnTo>
                  <a:pt x="453628" y="453628"/>
                </a:lnTo>
                <a:lnTo>
                  <a:pt x="0" y="45362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 t="-16667" b="-16665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572135" y="579674"/>
            <a:ext cx="6277945" cy="1202160"/>
          </a:xfrm>
          <a:custGeom>
            <a:avLst/>
            <a:gdLst/>
            <a:ahLst/>
            <a:cxnLst/>
            <a:rect l="l" t="t" r="r" b="b"/>
            <a:pathLst>
              <a:path w="6277945" h="1202160">
                <a:moveTo>
                  <a:pt x="0" y="0"/>
                </a:moveTo>
                <a:lnTo>
                  <a:pt x="6277946" y="0"/>
                </a:lnTo>
                <a:lnTo>
                  <a:pt x="6277946" y="1202160"/>
                </a:lnTo>
                <a:lnTo>
                  <a:pt x="0" y="120216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028700" y="2401808"/>
            <a:ext cx="5821381" cy="6830768"/>
          </a:xfrm>
          <a:custGeom>
            <a:avLst/>
            <a:gdLst/>
            <a:ahLst/>
            <a:cxnLst/>
            <a:rect l="l" t="t" r="r" b="b"/>
            <a:pathLst>
              <a:path w="5821381" h="6830768">
                <a:moveTo>
                  <a:pt x="0" y="0"/>
                </a:moveTo>
                <a:lnTo>
                  <a:pt x="5821381" y="0"/>
                </a:lnTo>
                <a:lnTo>
                  <a:pt x="5821381" y="6830768"/>
                </a:lnTo>
                <a:lnTo>
                  <a:pt x="0" y="683076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8077052" y="672306"/>
            <a:ext cx="3011964" cy="693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37" b="1">
                <a:solidFill>
                  <a:srgbClr val="6842E8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Conclusion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820368" y="1814830"/>
            <a:ext cx="9467632" cy="6581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1">
                <a:solidFill>
                  <a:srgbClr val="3257B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campXchange</a:t>
            </a:r>
            <a:r>
              <a:rPr lang="en-US" sz="3399">
                <a:solidFill>
                  <a:srgbClr val="3257B8"/>
                </a:solidFill>
                <a:latin typeface="Canva Sans"/>
                <a:ea typeface="Canva Sans"/>
                <a:cs typeface="Canva Sans"/>
                <a:sym typeface="Canva Sans"/>
              </a:rPr>
              <a:t> is a simple and secure platform built to help students buy and sell academic items easily within the campus. It replaces unorganized methods like WhatsApp groups with a professional system, making campus life more affordable and efficient for everyone. </a:t>
            </a:r>
          </a:p>
          <a:p>
            <a:pPr algn="l">
              <a:lnSpc>
                <a:spcPts val="4759"/>
              </a:lnSpc>
            </a:pPr>
            <a:r>
              <a:rPr lang="en-US" sz="3399" b="1">
                <a:solidFill>
                  <a:srgbClr val="3257B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Thank You!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3257B8"/>
                </a:solidFill>
                <a:latin typeface="Canva Sans"/>
                <a:ea typeface="Canva Sans"/>
                <a:cs typeface="Canva Sans"/>
                <a:sym typeface="Canva Sans"/>
              </a:rPr>
              <a:t>​Project Name: campXchange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3257B8"/>
                </a:solidFill>
                <a:latin typeface="Canva Sans"/>
                <a:ea typeface="Canva Sans"/>
                <a:cs typeface="Canva Sans"/>
                <a:sym typeface="Canva Sans"/>
              </a:rPr>
              <a:t>Academic Year: 2025-2026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3257B8"/>
                </a:solidFill>
                <a:latin typeface="Canva Sans"/>
                <a:ea typeface="Canva Sans"/>
                <a:cs typeface="Canva Sans"/>
                <a:sym typeface="Canva Sans"/>
              </a:rPr>
              <a:t>​Presented By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534295" y="7808992"/>
            <a:ext cx="9467632" cy="1780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3257B8"/>
                </a:solidFill>
                <a:latin typeface="Canva Sans"/>
                <a:ea typeface="Canva Sans"/>
                <a:cs typeface="Canva Sans"/>
                <a:sym typeface="Canva Sans"/>
              </a:rPr>
              <a:t>Om Sandeep Bagde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3257B8"/>
                </a:solidFill>
                <a:latin typeface="Canva Sans"/>
                <a:ea typeface="Canva Sans"/>
                <a:cs typeface="Canva Sans"/>
                <a:sym typeface="Canva Sans"/>
              </a:rPr>
              <a:t>Karan Sandeep Ghorpade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3257B8"/>
                </a:solidFill>
                <a:latin typeface="Canva Sans"/>
                <a:ea typeface="Canva Sans"/>
                <a:cs typeface="Canva Sans"/>
                <a:sym typeface="Canva Sans"/>
              </a:rPr>
              <a:t>Pranav Shivaji Janjal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945</Words>
  <Application>Microsoft Office PowerPoint</Application>
  <PresentationFormat>Custom</PresentationFormat>
  <Paragraphs>175</Paragraphs>
  <Slides>21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3" baseType="lpstr">
      <vt:lpstr>Roboto Slab Bold</vt:lpstr>
      <vt:lpstr>Calibri Light</vt:lpstr>
      <vt:lpstr>Canva Sans Bold</vt:lpstr>
      <vt:lpstr>Calibri</vt:lpstr>
      <vt:lpstr>Canva Sans</vt:lpstr>
      <vt:lpstr>Times New Roman</vt:lpstr>
      <vt:lpstr>Roboto Bold</vt:lpstr>
      <vt:lpstr>Roboto</vt:lpstr>
      <vt:lpstr>Roboto Slab</vt:lpstr>
      <vt:lpstr>Arial</vt:lpstr>
      <vt:lpstr>Symbol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campXchange.pptx</dc:title>
  <dc:creator>krushna sakhare</dc:creator>
  <cp:lastModifiedBy>Microsoft account</cp:lastModifiedBy>
  <cp:revision>4</cp:revision>
  <dcterms:created xsi:type="dcterms:W3CDTF">2006-08-16T00:00:00Z</dcterms:created>
  <dcterms:modified xsi:type="dcterms:W3CDTF">2026-04-17T05:26:52Z</dcterms:modified>
  <dc:identifier>DAHHBwa-zEM</dc:identifier>
</cp:coreProperties>
</file>